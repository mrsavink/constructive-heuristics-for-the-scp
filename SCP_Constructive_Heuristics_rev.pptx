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6751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FFFFFF"/>
                </a:solidFill>
                <a:latin typeface="Cambria"/>
                <a:cs typeface="Cambria"/>
              </a:rPr>
              <a:t>Constructive heuristics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1  ·  Heuristic Optimization</a:t>
            </a:r>
          </a:p>
        </p:txBody>
      </p:sp>
      <p:sp>
        <p:nvSpPr>
          <p:cNvPr id="5" name="Problem 5"/>
          <p:cNvSpPr txBox="1"/>
          <p:nvPr/>
        </p:nvSpPr>
        <p:spPr>
          <a:xfrm>
            <a:off x="7863840" y="868680"/>
            <a:ext cx="3749040" cy="278892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900" b="0" i="0" dirty="0">
                <a:solidFill>
                  <a:srgbClr val="FFFFFF"/>
                </a:solidFill>
                <a:latin typeface="Calibri"/>
                <a:cs typeface="Calibri"/>
              </a:rPr>
              <a:t>Choose sets of minimum total cost so that every element is covered.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BFD8DB"/>
                </a:solidFill>
                <a:latin typeface="Cambria"/>
                <a:cs typeface="Cambria"/>
              </a:rPr>
              <a:t>minimise  Σ wⱼ xⱼ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every element in at least one selected set,  xⱼ ∈ {0, 1}</a:t>
            </a:r>
          </a:p>
        </p:txBody>
      </p:sp>
      <p:sp>
        <p:nvSpPr>
          <p:cNvPr id="6" name="Stat 6"/>
          <p:cNvSpPr txBox="1"/>
          <p:nvPr/>
        </p:nvSpPr>
        <p:spPr>
          <a:xfrm>
            <a:off x="640080" y="452628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42</a:t>
            </a:r>
          </a:p>
        </p:txBody>
      </p:sp>
      <p:sp>
        <p:nvSpPr>
          <p:cNvPr id="7" name="Stat label 7"/>
          <p:cNvSpPr txBox="1"/>
          <p:nvPr/>
        </p:nvSpPr>
        <p:spPr>
          <a:xfrm>
            <a:off x="2011680" y="4526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OR-Library benchmark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instances (sets 4, 5, 6, A–D)</a:t>
            </a:r>
          </a:p>
        </p:txBody>
      </p:sp>
      <p:sp>
        <p:nvSpPr>
          <p:cNvPr id="8" name="Stat 8"/>
          <p:cNvSpPr txBox="1"/>
          <p:nvPr/>
        </p:nvSpPr>
        <p:spPr>
          <a:xfrm>
            <a:off x="4434840" y="452628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9" name="Stat label 9"/>
          <p:cNvSpPr txBox="1"/>
          <p:nvPr/>
        </p:nvSpPr>
        <p:spPr>
          <a:xfrm>
            <a:off x="5806440" y="4526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dynamic constructive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heuristics, each with 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without RE</a:t>
            </a:r>
          </a:p>
        </p:txBody>
      </p:sp>
      <p:sp>
        <p:nvSpPr>
          <p:cNvPr id="10" name="Stat 10"/>
          <p:cNvSpPr txBox="1"/>
          <p:nvPr/>
        </p:nvSpPr>
        <p:spPr>
          <a:xfrm>
            <a:off x="8229600" y="452628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+1</a:t>
            </a:r>
          </a:p>
        </p:txBody>
      </p:sp>
      <p:sp>
        <p:nvSpPr>
          <p:cNvPr id="11" name="Stat label 11"/>
          <p:cNvSpPr txBox="1"/>
          <p:nvPr/>
        </p:nvSpPr>
        <p:spPr>
          <a:xfrm>
            <a:off x="9601200" y="4526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neighbourhood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started from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constructed covers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Three dynamic constructive heuristics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The purpose is to create three different constructive strategies with increasing use of information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B6B70"/>
                </a:solidFill>
                <a:latin typeface="Calibri"/>
                <a:cs typeface="Calibri"/>
              </a:rPr>
              <a:t>In each CH, e</a:t>
            </a: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very step adds one set; scores are recomputed from the current partial solution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5" name="Card 5"/>
          <p:cNvSpPr txBox="1"/>
          <p:nvPr/>
        </p:nvSpPr>
        <p:spPr>
          <a:xfrm>
            <a:off x="54864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Badge 6"/>
          <p:cNvSpPr txBox="1"/>
          <p:nvPr/>
        </p:nvSpPr>
        <p:spPr>
          <a:xfrm>
            <a:off x="77724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9AA0A6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CH1</a:t>
            </a:r>
          </a:p>
        </p:txBody>
      </p:sp>
      <p:sp>
        <p:nvSpPr>
          <p:cNvPr id="7" name="Card head 7"/>
          <p:cNvSpPr txBox="1"/>
          <p:nvPr/>
        </p:nvSpPr>
        <p:spPr>
          <a:xfrm>
            <a:off x="77724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random set</a:t>
            </a:r>
          </a:p>
        </p:txBody>
      </p:sp>
      <p:sp>
        <p:nvSpPr>
          <p:cNvPr id="8" name="Card body 8"/>
          <p:cNvSpPr txBox="1"/>
          <p:nvPr/>
        </p:nvSpPr>
        <p:spPr>
          <a:xfrm>
            <a:off x="777240" y="30175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a random set that covers it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1B2A2F"/>
                </a:solidFill>
                <a:latin typeface="Calibri"/>
                <a:cs typeface="Calibri"/>
              </a:rPr>
              <a:t>R</a:t>
            </a: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epeat until all elements are covered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Does not use optimization of the cost/coverage ratio to select</a:t>
            </a:r>
          </a:p>
        </p:txBody>
      </p:sp>
      <p:sp>
        <p:nvSpPr>
          <p:cNvPr id="9" name="Card foot 9"/>
          <p:cNvSpPr txBox="1"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The baseline – Deliberate Randomness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434340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Badge 11"/>
          <p:cNvSpPr txBox="1"/>
          <p:nvPr/>
        </p:nvSpPr>
        <p:spPr>
          <a:xfrm>
            <a:off x="457200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CH2</a:t>
            </a:r>
          </a:p>
        </p:txBody>
      </p:sp>
      <p:sp>
        <p:nvSpPr>
          <p:cNvPr id="12" name="Card head 12"/>
          <p:cNvSpPr txBox="1"/>
          <p:nvPr/>
        </p:nvSpPr>
        <p:spPr>
          <a:xfrm>
            <a:off x="457200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best set</a:t>
            </a:r>
          </a:p>
        </p:txBody>
      </p:sp>
      <p:sp>
        <p:nvSpPr>
          <p:cNvPr id="13" name="Card body 13"/>
          <p:cNvSpPr txBox="1"/>
          <p:nvPr/>
        </p:nvSpPr>
        <p:spPr>
          <a:xfrm>
            <a:off x="4480560" y="3017520"/>
            <a:ext cx="338328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 (CH1)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covering set with the lowest cost per new additional element added (cost ÷ newly covered elements)</a:t>
            </a:r>
          </a:p>
        </p:txBody>
      </p:sp>
      <p:sp>
        <p:nvSpPr>
          <p:cNvPr id="14" name="Card foot 14"/>
          <p:cNvSpPr txBox="1"/>
          <p:nvPr/>
        </p:nvSpPr>
        <p:spPr>
          <a:xfrm>
            <a:off x="4480560" y="4539996"/>
            <a:ext cx="3108960" cy="7178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It keeps randomness (choice of uncovered element) BUT it adds an Element-driven greedy criterion </a:t>
            </a:r>
            <a:r>
              <a:rPr lang="en-US" sz="1400" i="1" dirty="0">
                <a:solidFill>
                  <a:srgbClr val="5B6B70"/>
                </a:solidFill>
                <a:latin typeface="Calibri"/>
                <a:cs typeface="Calibri"/>
              </a:rPr>
              <a:t>for the set selection</a:t>
            </a:r>
            <a:endParaRPr lang="en-US" sz="1400" b="0" i="1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15" name="Card 15"/>
          <p:cNvSpPr txBox="1"/>
          <p:nvPr/>
        </p:nvSpPr>
        <p:spPr>
          <a:xfrm>
            <a:off x="813816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6" name="Badge 16"/>
          <p:cNvSpPr txBox="1"/>
          <p:nvPr/>
        </p:nvSpPr>
        <p:spPr>
          <a:xfrm>
            <a:off x="836676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CH3</a:t>
            </a:r>
          </a:p>
        </p:txBody>
      </p:sp>
      <p:sp>
        <p:nvSpPr>
          <p:cNvPr id="17" name="Card head 17"/>
          <p:cNvSpPr txBox="1"/>
          <p:nvPr/>
        </p:nvSpPr>
        <p:spPr>
          <a:xfrm>
            <a:off x="836676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Best set overall</a:t>
            </a:r>
          </a:p>
        </p:txBody>
      </p:sp>
      <p:sp>
        <p:nvSpPr>
          <p:cNvPr id="18" name="Card body 18"/>
          <p:cNvSpPr txBox="1"/>
          <p:nvPr/>
        </p:nvSpPr>
        <p:spPr>
          <a:xfrm>
            <a:off x="8373359" y="2807208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Look at every candidate set that still covers something new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one with the lowest cost per new additional element added (cost ÷ newly covered elements)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In comparison </a:t>
            </a:r>
            <a:r>
              <a:rPr lang="en-US" sz="1500" dirty="0">
                <a:solidFill>
                  <a:srgbClr val="1B2A2F"/>
                </a:solidFill>
                <a:latin typeface="Calibri"/>
                <a:cs typeface="Calibri"/>
              </a:rPr>
              <a:t>to CH2, the</a:t>
            </a: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 difference is where the choice starts -&gt; CH3 is more globally greedy</a:t>
            </a:r>
          </a:p>
        </p:txBody>
      </p:sp>
      <p:sp>
        <p:nvSpPr>
          <p:cNvPr id="19" name="Card foot 19"/>
          <p:cNvSpPr txBox="1"/>
          <p:nvPr/>
        </p:nvSpPr>
        <p:spPr>
          <a:xfrm>
            <a:off x="8373359" y="4817615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Chvátal’s greedy rule element</a:t>
            </a:r>
          </a:p>
        </p:txBody>
      </p:sp>
      <p:sp>
        <p:nvSpPr>
          <p:cNvPr id="20" name="Note 20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Dynamic bookkeeping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Adding a set updates the uncovered list and the “still uncovered” count of every affected set – only what changed is touched. A set with nothing new to cover is not considered for the candidate list, so no fully redundant set is ever added.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From a feasible solution to a better feasible solution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Three stages, all built on the same incrementally updated state.</a:t>
            </a:r>
          </a:p>
        </p:txBody>
      </p:sp>
      <p:sp>
        <p:nvSpPr>
          <p:cNvPr id="5" name="Stage 5"/>
          <p:cNvSpPr txBox="1"/>
          <p:nvPr/>
        </p:nvSpPr>
        <p:spPr>
          <a:xfrm>
            <a:off x="548640" y="17830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Step 6"/>
          <p:cNvSpPr txBox="1"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7" name="Stage head 7"/>
          <p:cNvSpPr txBox="1"/>
          <p:nvPr/>
        </p:nvSpPr>
        <p:spPr>
          <a:xfrm>
            <a:off x="141732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Construct</a:t>
            </a:r>
          </a:p>
        </p:txBody>
      </p:sp>
      <p:sp>
        <p:nvSpPr>
          <p:cNvPr id="8" name="Stage body 8"/>
          <p:cNvSpPr txBox="1"/>
          <p:nvPr/>
        </p:nvSpPr>
        <p:spPr>
          <a:xfrm>
            <a:off x="777240" y="26517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CH1, CH2 or CH3 builds a complete feasible solution (that ensures every element is covered).</a:t>
            </a:r>
          </a:p>
        </p:txBody>
      </p:sp>
      <p:sp>
        <p:nvSpPr>
          <p:cNvPr id="9" name="Arrow 9"/>
          <p:cNvSpPr txBox="1"/>
          <p:nvPr/>
        </p:nvSpPr>
        <p:spPr>
          <a:xfrm>
            <a:off x="3904488" y="2788920"/>
            <a:ext cx="443484" cy="41148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0" name="Stage 10"/>
          <p:cNvSpPr txBox="1"/>
          <p:nvPr/>
        </p:nvSpPr>
        <p:spPr>
          <a:xfrm>
            <a:off x="4457700" y="17830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Step 11"/>
          <p:cNvSpPr txBox="1"/>
          <p:nvPr/>
        </p:nvSpPr>
        <p:spPr>
          <a:xfrm>
            <a:off x="4686300" y="1965960"/>
            <a:ext cx="502920" cy="502920"/>
          </a:xfrm>
          <a:prstGeom prst="ellipse">
            <a:avLst/>
          </a:prstGeom>
          <a:solidFill>
            <a:srgbClr val="E8873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2" name="Stage head 12"/>
          <p:cNvSpPr txBox="1"/>
          <p:nvPr/>
        </p:nvSpPr>
        <p:spPr>
          <a:xfrm>
            <a:off x="532638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Redundancy elimination (RE)</a:t>
            </a:r>
          </a:p>
        </p:txBody>
      </p:sp>
      <p:sp>
        <p:nvSpPr>
          <p:cNvPr id="13" name="Stage body 13"/>
          <p:cNvSpPr txBox="1"/>
          <p:nvPr/>
        </p:nvSpPr>
        <p:spPr>
          <a:xfrm>
            <a:off x="4686300" y="26517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Scan the chosen sets, most expensive first, and drop any set whose elements are all covered by others. One pass is enough.</a:t>
            </a:r>
          </a:p>
        </p:txBody>
      </p:sp>
      <p:sp>
        <p:nvSpPr>
          <p:cNvPr id="14" name="Arrow 14"/>
          <p:cNvSpPr txBox="1"/>
          <p:nvPr/>
        </p:nvSpPr>
        <p:spPr>
          <a:xfrm>
            <a:off x="7813548" y="2788920"/>
            <a:ext cx="443484" cy="41148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5" name="Stage 15"/>
          <p:cNvSpPr txBox="1"/>
          <p:nvPr/>
        </p:nvSpPr>
        <p:spPr>
          <a:xfrm>
            <a:off x="8366760" y="17830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6" name="Step 16"/>
          <p:cNvSpPr txBox="1"/>
          <p:nvPr/>
        </p:nvSpPr>
        <p:spPr>
          <a:xfrm>
            <a:off x="8595360" y="196596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7" name="Stage head 17"/>
          <p:cNvSpPr txBox="1"/>
          <p:nvPr/>
        </p:nvSpPr>
        <p:spPr>
          <a:xfrm>
            <a:off x="923544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Neighbourhood search</a:t>
            </a:r>
          </a:p>
        </p:txBody>
      </p:sp>
      <p:sp>
        <p:nvSpPr>
          <p:cNvPr id="18" name="Stage body 18"/>
          <p:cNvSpPr txBox="1"/>
          <p:nvPr/>
        </p:nvSpPr>
        <p:spPr>
          <a:xfrm>
            <a:off x="8595360" y="26517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Move: drop one set, repair greedily without it (if dropping one set creates uncovered elements), then RE. Take improving moves (first or best improvement) until none is left.</a:t>
            </a:r>
          </a:p>
        </p:txBody>
      </p:sp>
      <p:sp>
        <p:nvSpPr>
          <p:cNvPr id="19" name="Info 19"/>
          <p:cNvSpPr txBox="1"/>
          <p:nvPr/>
        </p:nvSpPr>
        <p:spPr>
          <a:xfrm>
            <a:off x="548640" y="443484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6F78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F6F78"/>
                </a:solidFill>
                <a:latin typeface="Cambria"/>
                <a:cs typeface="Cambria"/>
              </a:rPr>
              <a:t>Incremental evaluation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Each add or remove updates coverage counts, the uncovered list and per-set scores for the touched elements only. Tried moves are undone from a log – the state is never copied.</a:t>
            </a:r>
          </a:p>
        </p:txBody>
      </p:sp>
      <p:sp>
        <p:nvSpPr>
          <p:cNvPr id="20" name="Info 20"/>
          <p:cNvSpPr txBox="1"/>
          <p:nvPr/>
        </p:nvSpPr>
        <p:spPr>
          <a:xfrm>
            <a:off x="6172200" y="443484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6F78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F6F78"/>
                </a:solidFill>
                <a:latin typeface="Cambria"/>
                <a:cs typeface="Cambria"/>
              </a:rPr>
              <a:t>Checked, not assumed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After every run the cover, its cost and (after RE) its minimality are recomputed from scratch and compared with the incremental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Results: construction, with and without RE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42 instances, one run per instance and method, same seed. Deviation from the best solution.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783080"/>
          <a:ext cx="5669280" cy="2267712"/>
        </p:xfrm>
        <a:graphic>
          <a:graphicData uri="http://schemas.openxmlformats.org/drawingml/2006/table">
            <a:tbl>
              <a:tblPr firstRow="1"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no RE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with RE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Helped by RE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2297 %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1756 %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19.5 %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15.0 %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40 / 42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13.0 %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6.5 %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ake 6"/>
          <p:cNvSpPr txBox="1"/>
          <p:nvPr/>
        </p:nvSpPr>
        <p:spPr>
          <a:xfrm>
            <a:off x="548640" y="4343400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E8873A"/>
                </a:solidFill>
                <a:latin typeface="Cambria"/>
                <a:cs typeface="Cambria"/>
              </a:rPr>
              <a:t>124 of 126</a:t>
            </a:r>
          </a:p>
        </p:txBody>
      </p:sp>
      <p:sp>
        <p:nvSpPr>
          <p:cNvPr id="7" name="Take label 7"/>
          <p:cNvSpPr txBox="1"/>
          <p:nvPr/>
        </p:nvSpPr>
        <p:spPr>
          <a:xfrm>
            <a:off x="2834640" y="4343400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runs improved by RE; it never made a solution worse</a:t>
            </a:r>
          </a:p>
        </p:txBody>
      </p:sp>
      <p:sp>
        <p:nvSpPr>
          <p:cNvPr id="8" name="Take 8"/>
          <p:cNvSpPr txBox="1"/>
          <p:nvPr/>
        </p:nvSpPr>
        <p:spPr>
          <a:xfrm>
            <a:off x="548640" y="5001768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E8873A"/>
                </a:solidFill>
                <a:latin typeface="Cambria"/>
                <a:cs typeface="Cambria"/>
              </a:rPr>
              <a:t>13.0 % → 6.5 %</a:t>
            </a:r>
          </a:p>
        </p:txBody>
      </p:sp>
      <p:sp>
        <p:nvSpPr>
          <p:cNvPr id="9" name="Take label 9"/>
          <p:cNvSpPr txBox="1"/>
          <p:nvPr/>
        </p:nvSpPr>
        <p:spPr>
          <a:xfrm>
            <a:off x="2834640" y="5001768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CH3 gains most from RE among the informed heuristics</a:t>
            </a:r>
          </a:p>
        </p:txBody>
      </p:sp>
      <p:sp>
        <p:nvSpPr>
          <p:cNvPr id="10" name="Take 10"/>
          <p:cNvSpPr txBox="1"/>
          <p:nvPr/>
        </p:nvSpPr>
        <p:spPr>
          <a:xfrm>
            <a:off x="548640" y="5660136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5B6B70"/>
                </a:solidFill>
                <a:latin typeface="Cambria"/>
                <a:cs typeface="Cambria"/>
              </a:rPr>
              <a:t>CH1 is blind</a:t>
            </a:r>
          </a:p>
        </p:txBody>
      </p:sp>
      <p:sp>
        <p:nvSpPr>
          <p:cNvPr id="11" name="Take label 11"/>
          <p:cNvSpPr txBox="1"/>
          <p:nvPr/>
        </p:nvSpPr>
        <p:spPr>
          <a:xfrm>
            <a:off x="2834640" y="5660136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ignoring cost and coverage costs orders of magnitude</a:t>
            </a:r>
          </a:p>
        </p:txBody>
      </p:sp>
      <p:pic>
        <p:nvPicPr>
          <p:cNvPr id="12" name="Chart RE" descr="Average deviation with and without redundancy elimination per heurist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91640"/>
            <a:ext cx="5029200" cy="3502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Neighbourhood search closes most of the gap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Compound heuristic: construction, then RE, then drop-and-repair search. Deviation from the best solution.</a:t>
            </a:r>
          </a:p>
        </p:txBody>
      </p:sp>
      <p:pic>
        <p:nvPicPr>
          <p:cNvPr id="5" name="Chart stages" descr="Average deviation after each stage for CH1, CH2 and CH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400800" cy="3931920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7315200" y="169164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7" name="Card big 7"/>
          <p:cNvSpPr txBox="1"/>
          <p:nvPr/>
        </p:nvSpPr>
        <p:spPr>
          <a:xfrm>
            <a:off x="7498080" y="174650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F6F78"/>
                </a:solidFill>
                <a:latin typeface="Cambria"/>
                <a:cs typeface="Cambria"/>
              </a:rPr>
              <a:t>2.9 %</a:t>
            </a:r>
          </a:p>
        </p:txBody>
      </p:sp>
      <p:sp>
        <p:nvSpPr>
          <p:cNvPr id="8" name="Card label 8"/>
          <p:cNvSpPr txBox="1"/>
          <p:nvPr/>
        </p:nvSpPr>
        <p:spPr>
          <a:xfrm>
            <a:off x="7498080" y="22402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CH3 + RE + best-improvement search: the best average result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7315200" y="288036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0" name="Card big 10"/>
          <p:cNvSpPr txBox="1"/>
          <p:nvPr/>
        </p:nvSpPr>
        <p:spPr>
          <a:xfrm>
            <a:off x="7498080" y="293522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E8873A"/>
                </a:solidFill>
                <a:latin typeface="Cambria"/>
                <a:cs typeface="Cambria"/>
              </a:rPr>
              <a:t>1756 % → 3.7 %</a:t>
            </a:r>
          </a:p>
        </p:txBody>
      </p:sp>
      <p:sp>
        <p:nvSpPr>
          <p:cNvPr id="11" name="Card label 11"/>
          <p:cNvSpPr txBox="1"/>
          <p:nvPr/>
        </p:nvSpPr>
        <p:spPr>
          <a:xfrm>
            <a:off x="7498080" y="3429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even the blind CH1 start is rescued by the same search</a:t>
            </a:r>
          </a:p>
        </p:txBody>
      </p:sp>
      <p:sp>
        <p:nvSpPr>
          <p:cNvPr id="12" name="Card 12"/>
          <p:cNvSpPr txBox="1"/>
          <p:nvPr/>
        </p:nvSpPr>
        <p:spPr>
          <a:xfrm>
            <a:off x="7315200" y="406908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3" name="Card big 13"/>
          <p:cNvSpPr txBox="1"/>
          <p:nvPr/>
        </p:nvSpPr>
        <p:spPr>
          <a:xfrm>
            <a:off x="7498080" y="412394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F6F78"/>
                </a:solidFill>
                <a:latin typeface="Cambria"/>
                <a:cs typeface="Cambria"/>
              </a:rPr>
              <a:t>3 vs 32 moves</a:t>
            </a:r>
          </a:p>
        </p:txBody>
      </p:sp>
      <p:sp>
        <p:nvSpPr>
          <p:cNvPr id="14" name="Card label 14"/>
          <p:cNvSpPr txBox="1"/>
          <p:nvPr/>
        </p:nvSpPr>
        <p:spPr>
          <a:xfrm>
            <a:off x="7498080" y="46177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CH3 needs far fewer improving moves than CH1 – better start, less search</a:t>
            </a:r>
          </a:p>
        </p:txBody>
      </p:sp>
      <p:sp>
        <p:nvSpPr>
          <p:cNvPr id="15" name="Takeaway 15"/>
          <p:cNvSpPr txBox="1"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F3A40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Takeaway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The best cost is reached on only a few of the 42 instances (at most 3 per stage), and no heuristic beat the best solution. What is left, a few percent, is what constructive heuristics plus a simple local search cannot close – the case for stronger metaheuristics.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726</Words>
  <Application>Microsoft Office PowerPoint</Application>
  <PresentationFormat>Ecrã Panorâmico</PresentationFormat>
  <Paragraphs>87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SCP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Constructive heuristics for the Set Covering Problem</dc:title>
  <dc:creator/>
  <cp:lastModifiedBy>Artur Miguel</cp:lastModifiedBy>
  <cp:revision>2</cp:revision>
  <dcterms:modified xsi:type="dcterms:W3CDTF">2026-10-01T12:23:36Z</dcterms:modified>
</cp:coreProperties>
</file>