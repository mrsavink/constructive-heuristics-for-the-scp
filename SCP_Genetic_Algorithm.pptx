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chemeClr val="tx1"/>
          </a:solidFill>
          <a:latin typeface="+mn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_crossover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nb4fig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nb4fig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nb4fig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nb4fig4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640080" y="868680"/>
            <a:ext cx="694944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FFFFFF"/>
                </a:solidFill>
                <a:latin typeface="Cambria"/>
                <a:cs typeface="Cambria"/>
              </a:rPr>
              <a:t>A genetic algorithm for the Set Covering Problem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640080" y="3200400"/>
            <a:ext cx="69494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BFD8DB"/>
                </a:solidFill>
                <a:latin typeface="Calibri"/>
                <a:cs typeface="Calibri"/>
              </a:rPr>
              <a:t>Assignment 4  ·  Population-based metaheuristics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BFD8DB"/>
                </a:solidFill>
                <a:latin typeface="Calibri"/>
                <a:cs typeface="Calibri"/>
              </a:rPr>
              <a:t>first iteration: design and working version</a:t>
            </a:r>
          </a:p>
        </p:txBody>
      </p:sp>
      <p:sp>
        <p:nvSpPr>
          <p:cNvPr id="5" name="Authors 5"/>
          <p:cNvSpPr txBox="1"/>
          <p:nvPr/>
        </p:nvSpPr>
        <p:spPr>
          <a:xfrm>
            <a:off x="640080" y="40233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BFD8DB"/>
                </a:solidFill>
                <a:latin typeface="Calibri"/>
                <a:cs typeface="Calibri"/>
              </a:rPr>
              <a:t>Group 11: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Artur Santoalha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Kirill Savin</a:t>
            </a:r>
          </a:p>
        </p:txBody>
      </p:sp>
      <p:sp>
        <p:nvSpPr>
          <p:cNvPr id="6" name="Task 6"/>
          <p:cNvSpPr txBox="1"/>
          <p:nvPr/>
        </p:nvSpPr>
        <p:spPr>
          <a:xfrm>
            <a:off x="7863840" y="868680"/>
            <a:ext cx="3749040" cy="3108960"/>
          </a:xfrm>
          <a:prstGeom prst="roundRect">
            <a:avLst>
              <a:gd name="adj" fmla="val 6000"/>
            </a:avLst>
          </a:prstGeom>
          <a:solidFill>
            <a:srgbClr val="17505A"/>
          </a:solidFill>
          <a:ln>
            <a:noFill/>
          </a:ln>
        </p:spPr>
        <p:txBody>
          <a:bodyPr wrap="square" lIns="256032" tIns="256032" rIns="256032" bIns="256032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300" b="1" i="0" dirty="0">
                <a:solidFill>
                  <a:srgbClr val="E8873A"/>
                </a:solidFill>
                <a:latin typeface="Calibri"/>
                <a:cs typeface="Calibri"/>
              </a:rPr>
              <a:t>THE TASK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700" b="0" i="0" dirty="0">
                <a:solidFill>
                  <a:srgbClr val="FFFFFF"/>
                </a:solidFill>
                <a:latin typeface="Calibri"/>
                <a:cs typeface="Calibri"/>
              </a:rPr>
              <a:t>Choose a population-based family, justify it, design it for the SCP, sketch one run in pseudocode and build a working, verifiable version.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BFD8DB"/>
                </a:solidFill>
                <a:latin typeface="Cambria"/>
                <a:cs typeface="Cambria"/>
              </a:rPr>
              <a:t>binary vector  ·  corrected crossover  ·  drop-and-repair mutation</a:t>
            </a:r>
          </a:p>
        </p:txBody>
      </p:sp>
      <p:sp>
        <p:nvSpPr>
          <p:cNvPr id="7" name="Stat 7"/>
          <p:cNvSpPr txBox="1"/>
          <p:nvPr/>
        </p:nvSpPr>
        <p:spPr>
          <a:xfrm>
            <a:off x="640080" y="507492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dirty="0">
                <a:solidFill>
                  <a:srgbClr val="E8873A"/>
                </a:solidFill>
                <a:latin typeface="Cambria"/>
                <a:cs typeface="Cambria"/>
              </a:rPr>
              <a:t>GA</a:t>
            </a:r>
          </a:p>
        </p:txBody>
      </p:sp>
      <p:sp>
        <p:nvSpPr>
          <p:cNvPr id="8" name="Stat label 8"/>
          <p:cNvSpPr txBox="1"/>
          <p:nvPr/>
        </p:nvSpPr>
        <p:spPr>
          <a:xfrm>
            <a:off x="2578608" y="507492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family chosen: every individual is a feasible, minimal cover</a:t>
            </a:r>
          </a:p>
        </p:txBody>
      </p:sp>
      <p:sp>
        <p:nvSpPr>
          <p:cNvPr id="9" name="Stat 9"/>
          <p:cNvSpPr txBox="1"/>
          <p:nvPr/>
        </p:nvSpPr>
        <p:spPr>
          <a:xfrm>
            <a:off x="4434840" y="507492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dirty="0">
                <a:solidFill>
                  <a:srgbClr val="E8873A"/>
                </a:solidFill>
                <a:latin typeface="Cambria"/>
                <a:cs typeface="Cambria"/>
              </a:rPr>
              <a:t>6.6 → 1.0 %</a:t>
            </a:r>
          </a:p>
        </p:txBody>
      </p:sp>
      <p:sp>
        <p:nvSpPr>
          <p:cNvPr id="10" name="Stat label 10"/>
          <p:cNvSpPr txBox="1"/>
          <p:nvPr/>
        </p:nvSpPr>
        <p:spPr>
          <a:xfrm>
            <a:off x="6373368" y="507492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average deviation, CH3 + RE start vs. GA (7 instances, 5 seeds)</a:t>
            </a:r>
          </a:p>
        </p:txBody>
      </p:sp>
      <p:sp>
        <p:nvSpPr>
          <p:cNvPr id="11" name="Stat 11"/>
          <p:cNvSpPr txBox="1"/>
          <p:nvPr/>
        </p:nvSpPr>
        <p:spPr>
          <a:xfrm>
            <a:off x="8229600" y="507492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dirty="0">
                <a:solidFill>
                  <a:srgbClr val="E8873A"/>
                </a:solidFill>
                <a:latin typeface="Cambria"/>
                <a:cs typeface="Cambria"/>
              </a:rPr>
              <a:t>11 / 35</a:t>
            </a:r>
          </a:p>
        </p:txBody>
      </p:sp>
      <p:sp>
        <p:nvSpPr>
          <p:cNvPr id="12" name="Stat label 12"/>
          <p:cNvSpPr txBox="1"/>
          <p:nvPr/>
        </p:nvSpPr>
        <p:spPr>
          <a:xfrm>
            <a:off x="10168128" y="507492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runs reached the best known value (all 5 on scp42 and scpb2)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Choice of the family and justification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Every family poses one question about the SCP – only the GA has a natural answer.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48640" y="1691640"/>
          <a:ext cx="11064240" cy="3291840"/>
        </p:xfrm>
        <a:graphic>
          <a:graphicData uri="http://schemas.openxmlformats.org/drawingml/2006/table">
            <a:tbl>
              <a:tblPr firstRow="1"/>
              <a:tblGrid>
                <a:gridCol w="1005840"/>
                <a:gridCol w="2834640"/>
                <a:gridCol w="6126480"/>
                <a:gridCol w="1097280"/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Family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Question for the SCP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Can we answer it?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Verdict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GA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Meaningful representation, crossover, mutation?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Yes: a solution is a set of columns = a binary vector; the sets both parents chose are building blocks to keep; the repair of Assignments 1–3 fixes any union of sets; mutation = drop-and-repair.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chosen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BRKGA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 useful decoder from random keys?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Yes (keys → perturbed costs → greedy), but crossover of keys does not "keep sets": the link to the cover is indirect.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possible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ACO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Solution components, what should pheromone represent?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Components = columns, pheromone = desirability of a column. Every ant constructs from scratch; only the pheromone remembers good solutions.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possible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PSO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Meaningful position and update rule?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 binary position and velocity need a decoder and a repair; "moving towards the best" has no natural meaning for sets.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weakest fit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6" name="Note 6"/>
          <p:cNvSpPr txBox="1"/>
          <p:nvPr/>
        </p:nvSpPr>
        <p:spPr>
          <a:xfrm>
            <a:off x="548640" y="51663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F6F78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Why GA for the SCP 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>(1) Natural, compact representation: one bit per column.  (2) A cover is a selection of building blocks: good covers share columns, so keeping what two good parents have in common and recombining the rest is a meaningful, path-relinking-like operator.  (3) All problem-specific machinery (greedy repair, RE, drop-and-repair move) exists and is validated.  (4) Assignments 1–3 were single-solution methods; competition between solutions is the new ingredient.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Design (1): individual, feasibility, evaluation, start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The first four of the eight design questions.</a:t>
            </a:r>
          </a:p>
        </p:txBody>
      </p:sp>
      <p:sp>
        <p:nvSpPr>
          <p:cNvPr id="5" name="Card 5"/>
          <p:cNvSpPr txBox="1"/>
          <p:nvPr/>
        </p:nvSpPr>
        <p:spPr>
          <a:xfrm>
            <a:off x="548640" y="16459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1  Representation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One individual = a binary vector x ∈ {0,1}ⁿ, one bit per set; xⱼ = 1 iff set j is selected.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Example (best solution on scpa1): n = 3000 bits, 70 ones → a cover of cost 257; cost = Σ wⱼ xⱼ.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Decoded in one step into the incremental state (counts, uncovered elements) of Assignments 1–3.</a:t>
            </a:r>
          </a:p>
        </p:txBody>
      </p:sp>
      <p:sp>
        <p:nvSpPr>
          <p:cNvPr id="6" name="Card 6"/>
          <p:cNvSpPr txBox="1"/>
          <p:nvPr/>
        </p:nvSpPr>
        <p:spPr>
          <a:xfrm>
            <a:off x="6172200" y="16459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2  Feasibility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Infeasibility occurs: 97 % of the raw crossover children of the initial population are not covers (about 69 % over a whole run); the drop of a mutation leaves elements uncovered.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Strategy: repair, never reject or penalise – cover the uncovered elements with the greedy ratio rule (CH3), then RE.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Every individual in the population is feasible and minimal.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548640" y="406908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3  Evaluation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Minimise the total cost. All individuals are feasible, so no violation term; ties broken arbitrarily.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Selection is built for minimisation: the tournament takes the lower cost; roulette wheel (option) uses fᵢ = z_max − zᵢ + 1 (the +1 keeps the worst one selectable).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Evaluation counts: one evaluation = one greedy repair.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6172200" y="406908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4  Initial population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Mixed: one CH3 + RE (deterministic greedy seed) and N−1 randomised-greedy + RE individuals; restricted candidate list of random size 2–5 gives different quality and structure.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Duplicates are rejected; random covers are not used (10–20× more expensive, never selected).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Why different? Crossing identical parents only returns the parents.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Design (2): new solutions, update, diversity, stopping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Questions 5–8, with the points raised in the discussion.</a:t>
            </a:r>
          </a:p>
        </p:txBody>
      </p:sp>
      <p:sp>
        <p:nvSpPr>
          <p:cNvPr id="5" name="Card 5"/>
          <p:cNvSpPr txBox="1"/>
          <p:nvPr/>
        </p:nvSpPr>
        <p:spPr>
          <a:xfrm>
            <a:off x="548640" y="164592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5  New solutions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Two binary tournaments pick the parents. With probability p_c: corrected crossover – keep the sets chosen by both parents, give each other set to child 1 or 2 at random, then repair + RE. Otherwise: copies.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Mutation with probability p_m per child = drop-and-repair of Assignment 3 (a random set is dropped, greedy repair, RE).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The crossover is corrected by repair, like the corrected crossover for the TSP.</a:t>
            </a:r>
          </a:p>
        </p:txBody>
      </p:sp>
      <p:sp>
        <p:nvSpPr>
          <p:cNvPr id="6" name="Card 6"/>
          <p:cNvSpPr txBox="1"/>
          <p:nvPr/>
        </p:nvSpPr>
        <p:spPr>
          <a:xfrm>
            <a:off x="6172200" y="164592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6  Population update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Generational with elitism: the `elite` best individuals are copied unchanged, the other places are filled with offspring (parents are replaced).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The best solution found is stored separately and can never be lost.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Alternative for later: parents + offspring compete (stronger elitism, faster loss of diversity).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548640" y="41605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7  Diversity and premature convergence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Sources: randomised start, random split in crossover, mutation, low selection pressure (binary tournament), duplicate control (a child equal to a member of the new population is mutated).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Premature convergence = the population collapses to almost identical covers; the common part is then everything and crossover returns the parents. We measure it: mean Jaccard distance and distinct individuals per generation.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6172200" y="41605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8  Stopping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Stagnation: stop after ξ generations without improvement of the best solution (as in the lecture), plus a maximum number of generations as a safety net.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Reported budget: evaluated individuals (greedy repairs).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50" b="0" i="0" dirty="0">
                <a:solidFill>
                  <a:srgbClr val="1B2A2F"/>
                </a:solidFill>
                <a:latin typeface="Calibri"/>
                <a:cs typeface="Calibri"/>
              </a:rPr>
              <a:t>To tune later: ξ and the population size, under an equal evaluation or time budget.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Pseudocode of one run and a worked crossover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13 lines; the red part of the generic GA outline (offspring production) is the SCP-specific work.</a:t>
            </a:r>
          </a:p>
        </p:txBody>
      </p:sp>
      <p:sp>
        <p:nvSpPr>
          <p:cNvPr id="5" name="Pseudocode 5"/>
          <p:cNvSpPr txBox="1"/>
          <p:nvPr/>
        </p:nvSpPr>
        <p:spPr>
          <a:xfrm>
            <a:off x="548640" y="1645920"/>
            <a:ext cx="6400800" cy="4846320"/>
          </a:xfrm>
          <a:prstGeom prst="roundRect">
            <a:avLst>
              <a:gd name="adj" fmla="val 3000"/>
            </a:avLst>
          </a:prstGeom>
          <a:solidFill>
            <a:srgbClr val="0F3A40"/>
          </a:solidFill>
          <a:ln>
            <a:noFill/>
          </a:ln>
        </p:spPr>
        <p:txBody>
          <a:bodyPr wrap="square" lIns="201168" tIns="201168" rIns="201168" bIns="201168" anchor="t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E8873A"/>
                </a:solidFill>
                <a:latin typeface="Courier New"/>
                <a:cs typeface="Courier New"/>
              </a:rPr>
              <a:t>GA(instance; N, elite, p_c, p_m, k, ξ)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1 P ← {CH3+RE} ∪ (N−1) randomised greedy+RE   (no duplicates)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2 best ← best(P);  g ← 0;  g_best ← 0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3 while g − g_best &lt; ξ  and  g &lt; max_gen: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4     g ← g+1;   P' ← the `elite` best of P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5     while |P'| &lt; N: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6         p1,p2 ← binaryTournament(P) twice  (low cost wins)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7         if rand() &lt; p_c: (c1,c2) ← crossover(p1,p2)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              else (c1,c2) ← (p1,p2)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8           crossover: keep sets of BOTH parents, split the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              others at random, repair (CH3 rule) + RE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9         for c in (c1,c2): w.p. p_m: c ← mutate(c)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               (drop one set, repair, RE)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10             if c duplicates a member of P': mutate(c)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11             add c to P'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12     P ← P';  update best and g_best</a:t>
            </a:r>
          </a:p>
          <a:p>
            <a:pPr algn="l">
              <a:spcBef>
                <a:spcPts val="0"/>
              </a:spcBef>
              <a:spcAft>
                <a:spcPts val="35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urier New"/>
                <a:cs typeface="Courier New"/>
              </a:rPr>
              <a:t>13 return best     (feasible, minimal; Σ w_j x_j)</a:t>
            </a:r>
          </a:p>
        </p:txBody>
      </p:sp>
      <p:pic>
        <p:nvPicPr>
          <p:cNvPr id="6" name="Crossover example" descr="Worked example of the corrected crossover on a toy instance with 8 se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526280" cy="2849880"/>
          </a:xfrm>
          <a:prstGeom prst="rect">
            <a:avLst/>
          </a:prstGeom>
        </p:spPr>
      </p:pic>
      <p:sp>
        <p:nvSpPr>
          <p:cNvPr id="7" name="Card 7"/>
          <p:cNvSpPr txBox="1"/>
          <p:nvPr/>
        </p:nvSpPr>
        <p:spPr>
          <a:xfrm>
            <a:off x="7132320" y="4572000"/>
            <a:ext cx="4526280" cy="19202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Reading the example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Orange: the set both parents chose (kept).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Child 1 happens to be feasible (cost 15, minimal); child 2 misses c and d → repair adds S2 → RE drops the now redundant S4.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Generic parts: loop, tournament, elitism, probabilities, stopping. SCP-specific: the initial covers, crossover with repair, mutation, decoding.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Why RE? Check of the components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Ablation of the untuned baseline: 6 instances × 5 seeds, each variant changes one component (a check of the design, not the tuning).</a:t>
            </a:r>
          </a:p>
        </p:txBody>
      </p:sp>
      <p:pic>
        <p:nvPicPr>
          <p:cNvPr id="5" name="Ablation" descr="Average deviation of the baseline and four varia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577840" cy="2638168"/>
          </a:xfrm>
          <a:prstGeom prst="rect">
            <a:avLst/>
          </a:prstGeom>
        </p:spPr>
      </p:pic>
      <p:sp>
        <p:nvSpPr>
          <p:cNvPr id="6" name="Card 6"/>
          <p:cNvSpPr txBox="1"/>
          <p:nvPr/>
        </p:nvSpPr>
        <p:spPr>
          <a:xfrm>
            <a:off x="548640" y="4434840"/>
            <a:ext cx="5852160" cy="21031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Why RE in every offspring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Every operator creates redundancy: common + half of the others, and the sets added by a repair, make other sets redundant.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Fair comparison: selection compares costs only; redundancy would add noise.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Assignment 3: RE after every move was the most important building block (≈1.5 pp).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Cheap: all redundant sets from one sparse matrix-vector product.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6629400" y="1645920"/>
            <a:ext cx="4983480" cy="16002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RE is essential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Without RE: 4.0 % vs. 1.0 % – about four times worse, although it runs 65 % more evaluations.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6629400" y="3383280"/>
            <a:ext cx="4983480" cy="14173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Crossover pays off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A population of mutated copies (no crossover) reaches 1.37 % instead of 1.01 %: recombining the building blocks of two covers is the most productive operator.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6629400" y="4937760"/>
            <a:ext cx="4983480" cy="155448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Diversification is needed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No random mutation: 1.00 % – the duplicate control still mutates copies. Both off: 1.59 %. Either mechanism keeps the population different.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Working version on one instance (scpa1)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Runs from initialisation to termination; the best solution is recovered and verified; seeds control the randomness.</a:t>
            </a:r>
          </a:p>
        </p:txBody>
      </p:sp>
      <p:pic>
        <p:nvPicPr>
          <p:cNvPr id="5" name="Convergence" descr="Convergence and diversity of the GA on scpa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11064240" cy="3173464"/>
          </a:xfrm>
          <a:prstGeom prst="rect">
            <a:avLst/>
          </a:prstGeom>
        </p:spPr>
      </p:pic>
      <p:sp>
        <p:nvSpPr>
          <p:cNvPr id="6" name="Card 6"/>
          <p:cNvSpPr txBox="1"/>
          <p:nvPr/>
        </p:nvSpPr>
        <p:spPr>
          <a:xfrm>
            <a:off x="548640" y="4883392"/>
            <a:ext cx="3520440" cy="1746008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Verified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best cost 257 = recomputed from the raw instance file with an independent parser; 70 sets, all 300 elements covered, no redundant set.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check_state recomputes counts, cost and minimality from scratch.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4343400" y="4883392"/>
            <a:ext cx="3520440" cy="1746008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Seeds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The same seed reproduces the run exactly (history identical).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7 seeds: mean deviation 1.30 %, std 0.50 pp, best 0.40 %.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8138160" y="4883392"/>
            <a:ext cx="3520440" cy="1746008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E8873A"/>
                </a:solidFill>
                <a:latin typeface="Cambria"/>
                <a:cs typeface="Cambria"/>
              </a:rPr>
              <a:t>Premature convergence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Diversity falls from 0.31 to 0.13 within a few generations; the best solution was found in generations 2–8 and about 30 stagnation generations follow.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Main point for part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The five questions, answered with the running code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Each answer is demonstrated in NN4.ipynb (Sections 5 and 9).</a:t>
            </a:r>
          </a:p>
        </p:txBody>
      </p:sp>
      <p:sp>
        <p:nvSpPr>
          <p:cNvPr id="5" name="Card 5"/>
          <p:cNvSpPr txBox="1"/>
          <p:nvPr/>
        </p:nvSpPr>
        <p:spPr>
          <a:xfrm>
            <a:off x="548640" y="1645920"/>
            <a:ext cx="356616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1  Show one individual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An individual of the initial population (scpa1): x is a vector of 3000 bits with 73 ones. It is the cover made of these 73 sets: all elements covered, no redundant set, cost 269.</a:t>
            </a:r>
          </a:p>
        </p:txBody>
      </p:sp>
      <p:sp>
        <p:nvSpPr>
          <p:cNvPr id="6" name="Card 6"/>
          <p:cNvSpPr txBox="1"/>
          <p:nvPr/>
        </p:nvSpPr>
        <p:spPr>
          <a:xfrm>
            <a:off x="4297680" y="1645920"/>
            <a:ext cx="356616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2  Infeasible solutions?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Yes. Crossover: 97 % of raw children (initial population) leave about 7 elements uncovered; mutation: the drop uncovers elements.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Next: greedy repair, then RE – nothing infeasible enters the population.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8046720" y="1645920"/>
            <a:ext cx="356616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3  One new individual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Parents of 76 and 71 sets (cost 275, 260); 55 sets in common. Raw child: 75 sets, 7 elements uncovered → repair: 81 sets, cost 299 → RE: 72 sets, cost 269 → mutation: cost 272.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548640" y="411480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4  Where does diversity come from?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Randomised start (distance 0.33); random split in crossover (child–parent distance 0.20); mutation; low selection pressure; duplicate control: 278 of 1008 children were copies and were mutated.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6126480" y="411480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E8873A"/>
                </a:solidFill>
                <a:latin typeface="Cambria"/>
                <a:cs typeface="Cambria"/>
              </a:rPr>
              <a:t>5  Why not identical at once?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Elitism, binary tournament and duplicate control keep 29–30 distinct individuals and the mean cost improves (272 → 262). But diversity drops to 0.13 and the best stops early – premature convergence is visible.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Quality vs. effort: the GA against everything before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19 methods of Assignments 1–4, all 42 instances, seeds 1–10, same code and machine (TS and SA: raw runs of Assignment 3).</a:t>
            </a:r>
          </a:p>
        </p:txBody>
      </p:sp>
      <p:pic>
        <p:nvPicPr>
          <p:cNvPr id="5" name="Quality vs effort" descr="Average deviation against CPU time per run for all methods of Assignments 1 to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3631150"/>
          </a:xfrm>
          <a:prstGeom prst="rect">
            <a:avLst/>
          </a:prstGeom>
        </p:spPr>
      </p:pic>
      <p:sp>
        <p:nvSpPr>
          <p:cNvPr id="6" name="Card 6"/>
          <p:cNvSpPr txBox="1"/>
          <p:nvPr/>
        </p:nvSpPr>
        <p:spPr>
          <a:xfrm>
            <a:off x="548640" y="5277070"/>
            <a:ext cx="3520440" cy="139805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The quality ladder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Construction (CH3 + RE) 6.0 % in 2 ms → local search 2.9 / 2.7 % in 12–28 ms → SA / TS 1.3 / 1.0 % in 230 ms → GA 0.83 % in 348 ms. Each step costs about ten times more time.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4343400" y="5277070"/>
            <a:ext cx="3520440" cy="139805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E8873A"/>
                </a:solidFill>
                <a:latin typeface="Cambria"/>
                <a:cs typeface="Cambria"/>
              </a:rPr>
              <a:t>The GA is the most accurate, not the cheapest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348 ms per run vs. 230 ms for TS. A GA evaluation costs 0.21 ms, a TS evaluation 0.08 ms – at an equal number of evaluations the GA looks better than it is.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8138160" y="5277070"/>
            <a:ext cx="3520440" cy="139805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F6F78"/>
                </a:solidFill>
                <a:latin typeface="Cambria"/>
                <a:cs typeface="Cambria"/>
              </a:rPr>
              <a:t>Frontier and reliability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Efficient frontier: construction → CH3-based local search → TS / GA; CH1/CH2-based local search is dominated. GA: smallest spread over seeds (0.42 pp) and the best known value reached on 26 of 42 instances (TS 25, SA 19, BI 8, FI 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Results table: all methods of Assignments 1–4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42 instances × 10 seeds (420 runs per method); deviation from the best known solution; CPU time from scratch.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48640" y="1600200"/>
          <a:ext cx="10424160" cy="4791456"/>
        </p:xfrm>
        <a:graphic>
          <a:graphicData uri="http://schemas.openxmlformats.org/drawingml/2006/table">
            <a:tbl>
              <a:tblPr firstRow="1"/>
              <a:tblGrid>
                <a:gridCol w="2377440"/>
                <a:gridCol w="2011680"/>
                <a:gridCol w="914400"/>
                <a:gridCol w="1005840"/>
                <a:gridCol w="914400"/>
                <a:gridCol w="1097280"/>
                <a:gridCol w="1097280"/>
                <a:gridCol w="1005840"/>
              </a:tblGrid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Assignment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Avg. dev.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Best of 10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Std (seeds)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Best known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Evaluations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CPU / run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2175 %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1867 %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195.70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0.8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1642 %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1353 %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174.17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0.9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18.92 %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11.80 %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5.01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1.0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CH2+RE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14.50 %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7.80 %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4.65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1.0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CH3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12.95 %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10.58 %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1.63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CH3+RE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A1  construction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6.03 %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3.91 %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1.53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1.9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 from CH1+RE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4.11 %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1.77 %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1.78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289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24.8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 from CH1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4.00 %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1.66 %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1.87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9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291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24.9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 from CH2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3.98 %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1.23 %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2.04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9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174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15.2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 from CH1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3.90 %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1.56 %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9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2159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189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 from CH1+RE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3.78 %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1.50 %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1.76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2138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177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 from CH2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3.59 %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0.87 %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2.12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16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449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39.0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FI from CH3+RE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2.91 %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1.41 %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118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11.6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 from CH3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2.88 %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1.28 %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126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12.2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BI from CH3+RE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2.67 %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1.23 %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1.15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246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21.9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 from CH3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A2  local search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2.48 %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1.23 %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1.06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262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27.8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SA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A3  metaheuristic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1.34 %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0.69 %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0.55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3000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224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TS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A3  metaheuristic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1.04 %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0.41 %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0.53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25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3000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1F6F78"/>
                          </a:solidFill>
                          <a:latin typeface="Calibri"/>
                          <a:cs typeface="Calibri"/>
                        </a:rPr>
                        <a:t>230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GA (untuned baseline)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A4  genetic algorithm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0.83 %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0.31 %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26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1681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348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egend 6"/>
          <p:cNvSpPr txBox="1"/>
          <p:nvPr/>
        </p:nvSpPr>
        <p:spPr>
          <a:xfrm>
            <a:off x="548640" y="646480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B70"/>
                </a:solidFill>
                <a:latin typeface="Calibri"/>
                <a:cs typeface="Calibri"/>
              </a:rPr>
              <a:t>Highlighted: the six methods compared in the text (CH3 + RE, FI and BI from CH3 + RE, SA, TS, GA). Std = standard deviation over the 10 seeds, averaged over instances (pp); Best known = instances where the best known value was reached in at least one of 10 runs. TS and SA: raw runs of Assignment 3 (3000 evaluations).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GA vs. TS vs. SA vs. local search: equal effort and statistics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Best-so-far quality at equal evaluations and at equal CPU time; paired tests over the 42 instances (10-seed means).</a:t>
            </a:r>
          </a:p>
        </p:txBody>
      </p:sp>
      <p:pic>
        <p:nvPicPr>
          <p:cNvPr id="5" name="Anytime" descr="Best-so-far deviation at equal evaluations and at equal CPU ti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223760" cy="2125552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001000" y="1645920"/>
          <a:ext cx="3703320" cy="2084832"/>
        </p:xfrm>
        <a:graphic>
          <a:graphicData uri="http://schemas.openxmlformats.org/drawingml/2006/table">
            <a:tbl>
              <a:tblPr firstRow="1"/>
              <a:tblGrid>
                <a:gridCol w="1325880"/>
                <a:gridCol w="731520"/>
                <a:gridCol w="86868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Best known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CPU / run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GA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0.83 %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26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348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TS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1.04 %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25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230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SA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1.34 %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224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BI (CH3+RE)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2.67 %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22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FI (CH3+RE)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2.91 %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12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48640" y="3835480"/>
          <a:ext cx="7223760" cy="1691640"/>
        </p:xfrm>
        <a:graphic>
          <a:graphicData uri="http://schemas.openxmlformats.org/drawingml/2006/table">
            <a:tbl>
              <a:tblPr firstRow="1"/>
              <a:tblGrid>
                <a:gridCol w="1005840"/>
                <a:gridCol w="1097280"/>
                <a:gridCol w="1097280"/>
                <a:gridCol w="2011680"/>
                <a:gridCol w="2011680"/>
              </a:tblGrid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TS evals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TS CPU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 at equal evals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 at equal CPU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3.18 %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2.54 %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3.28 %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2.32 %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1.42 %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2.23 %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1000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77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1.49 %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0.92 %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1.17 %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3000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230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1.04 %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0.83 %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0.87 %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8" name="Card 8"/>
          <p:cNvSpPr txBox="1"/>
          <p:nvPr/>
        </p:nvSpPr>
        <p:spPr>
          <a:xfrm>
            <a:off x="8001000" y="3840480"/>
            <a:ext cx="3611880" cy="265176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Statistics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Friedman test: p = 7e-25; mean ranks GA 1.70, TS 1.93, SA 2.64, BI 4.06, FI 4.67.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GA vs. TS: better on 23 instances, worse on 15 – only marginally significant (Holm p = 0.049).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150" b="0" i="0" dirty="0">
                <a:solidFill>
                  <a:srgbClr val="1B2A2F"/>
                </a:solidFill>
                <a:latin typeface="Calibri"/>
                <a:cs typeface="Calibri"/>
              </a:rPr>
              <a:t>GA vs. SA and vs. local search: p &lt; 0.001 (Holm).</a:t>
            </a:r>
          </a:p>
        </p:txBody>
      </p:sp>
      <p:sp>
        <p:nvSpPr>
          <p:cNvPr id="9" name="Reading 9"/>
          <p:cNvSpPr txBox="1"/>
          <p:nvPr/>
        </p:nvSpPr>
        <p:spPr>
          <a:xfrm>
            <a:off x="548640" y="5664280"/>
            <a:ext cx="7223760" cy="10108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300" b="1" i="0" dirty="0">
                <a:solidFill>
                  <a:srgbClr val="1F6F78"/>
                </a:solidFill>
                <a:latin typeface="Cambria"/>
                <a:cs typeface="Cambria"/>
              </a:rPr>
              <a:t>Reading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B2A2F"/>
                </a:solidFill>
                <a:latin typeface="Calibri"/>
                <a:cs typeface="Calibri"/>
              </a:rPr>
              <a:t>At equal evaluations the GA is far ahead (1.42 % vs. 2.32 % after 300). At equal CPU time TS leads at about 8 ms, the GA from about 23 ms on – and its curve flattens early, which fits the premature convergence seen before.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Next: parameter tuning and improvement (part 2)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Baseline fixed before tuning; one change at a time; equal budget; several seeds.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48640" y="1645920"/>
          <a:ext cx="7315200" cy="3840480"/>
        </p:xfrm>
        <a:graphic>
          <a:graphicData uri="http://schemas.openxmlformats.org/drawingml/2006/table">
            <a:tbl>
              <a:tblPr firstRow="1"/>
              <a:tblGrid>
                <a:gridCol w="2834640"/>
                <a:gridCol w="182880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Baseline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 study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population size 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10, 20, 30, 50, 100  (first)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patience ξ (stopping)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10–100; budget-matched to TS / SA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mutation probability p_m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0, 0.05, 0.1, 0.2, 0.4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crossover probability p_c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0.9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0.5–1.0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elite size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0, 1, 2, 10 %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tournament size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2, 3, 5, roulette wheel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initial restricted candidate list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2–10, share of CH3 + RE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repair randomisation (rcl)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1, 2, 3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crossover type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uniform on differing sets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2–3 variants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rd 6"/>
          <p:cNvSpPr txBox="1"/>
          <p:nvPr/>
        </p:nvSpPr>
        <p:spPr>
          <a:xfrm>
            <a:off x="8138160" y="1645920"/>
            <a:ext cx="3474720" cy="48463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46304" tIns="146304" rIns="146304" bIns="146304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Priorities from the comparison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Premature convergence: diversity 0.31 → 0.13 in a few generations → larger population, restarts, diversification.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Effort: about 30 of ~40 generations are the stagnation tail → a shorter patience may cut the time a lot (hypothesis to test).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Fair comparison with TS / SA at an equal CPU time with the paired tests of Assignment 3, on a tuning subset and all 42 instances.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Report quality, variability, time and convergence behaviour.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P">
  <a:themeElements>
    <a:clrScheme name="SCP">
      <a:dk1>
        <a:srgbClr val="1B2A2F"/>
      </a:dk1>
      <a:lt1>
        <a:srgbClr val="FFFFFF"/>
      </a:lt1>
      <a:dk2>
        <a:srgbClr val="0F3A40"/>
      </a:dk2>
      <a:lt2>
        <a:srgbClr val="EEF4F5"/>
      </a:lt2>
      <a:accent1>
        <a:srgbClr val="1F6F78"/>
      </a:accent1>
      <a:accent2>
        <a:srgbClr val="E8873A"/>
      </a:accent2>
      <a:accent3>
        <a:srgbClr val="9AA0A6"/>
      </a:accent3>
      <a:accent4>
        <a:srgbClr val="17505A"/>
      </a:accent4>
      <a:accent5>
        <a:srgbClr val="BFD8DB"/>
      </a:accent5>
      <a:accent6>
        <a:srgbClr val="5B6B70"/>
      </a:accent6>
      <a:hlink>
        <a:srgbClr val="1F6F78"/>
      </a:hlink>
      <a:folHlink>
        <a:srgbClr val="5B6B70"/>
      </a:folHlink>
    </a:clrScheme>
    <a:fontScheme name="SCP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SC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 genetic algorithm for the Set Covering Problem</dc:title>
  <dc:creator/>
</cp:coreProperties>
</file>