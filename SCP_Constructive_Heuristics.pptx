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1800">
          <a:solidFill>
            <a:schemeClr val="tx1"/>
          </a:solidFill>
          <a:latin typeface="+mn-lt"/>
        </a:defRPr>
      </a:lvl1pPr>
    </p:titleStyle>
    <p:bodyStyle>
      <a:lvl1pPr>
        <a:defRPr sz="1800">
          <a:solidFill>
            <a:schemeClr val="tx1"/>
          </a:solidFill>
          <a:latin typeface="+mn-lt"/>
        </a:defRPr>
      </a:lvl1pPr>
    </p:bodyStyle>
    <p:otherStyle>
      <a:lvl1pPr>
        <a:defRPr sz="1800">
          <a:solidFill>
            <a:schemeClr val="tx1"/>
          </a:solidFill>
          <a:latin typeface="+mn-lt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chart_re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chart_stages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3A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640080" y="868680"/>
            <a:ext cx="6675120" cy="2194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 b="1" i="0" dirty="0">
                <a:solidFill>
                  <a:srgbClr val="FFFFFF"/>
                </a:solidFill>
                <a:latin typeface="Cambria"/>
                <a:cs typeface="Cambria"/>
              </a:rPr>
              <a:t>Constructive heuristics for the Set Covering Problem</a:t>
            </a:r>
          </a:p>
        </p:txBody>
      </p:sp>
      <p:sp>
        <p:nvSpPr>
          <p:cNvPr id="4" name="Subtitle 4"/>
          <p:cNvSpPr txBox="1"/>
          <p:nvPr/>
        </p:nvSpPr>
        <p:spPr>
          <a:xfrm>
            <a:off x="640080" y="3200400"/>
            <a:ext cx="66751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dirty="0">
                <a:solidFill>
                  <a:srgbClr val="BFD8DB"/>
                </a:solidFill>
                <a:latin typeface="Calibri"/>
                <a:cs typeface="Calibri"/>
              </a:rPr>
              <a:t>Assignment 1  ·  Heuristic Optimization</a:t>
            </a:r>
          </a:p>
        </p:txBody>
      </p:sp>
      <p:sp>
        <p:nvSpPr>
          <p:cNvPr id="5" name="Problem 5"/>
          <p:cNvSpPr txBox="1"/>
          <p:nvPr/>
        </p:nvSpPr>
        <p:spPr>
          <a:xfrm>
            <a:off x="7863840" y="868680"/>
            <a:ext cx="3749040" cy="2788920"/>
          </a:xfrm>
          <a:prstGeom prst="roundRect">
            <a:avLst>
              <a:gd name="adj" fmla="val 6000"/>
            </a:avLst>
          </a:prstGeom>
          <a:solidFill>
            <a:srgbClr val="17505A"/>
          </a:solidFill>
          <a:ln>
            <a:noFill/>
          </a:ln>
        </p:spPr>
        <p:txBody>
          <a:bodyPr wrap="square" lIns="256032" tIns="256032" rIns="256032" bIns="256032" anchor="t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1300" b="1" i="0" dirty="0">
                <a:solidFill>
                  <a:srgbClr val="E8873A"/>
                </a:solidFill>
                <a:latin typeface="Calibri"/>
                <a:cs typeface="Calibri"/>
              </a:rPr>
              <a:t>THE PROBLEM</a:t>
            </a:r>
          </a:p>
          <a:p>
            <a:pPr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1900" b="0" i="0" dirty="0">
                <a:solidFill>
                  <a:srgbClr val="FFFFFF"/>
                </a:solidFill>
                <a:latin typeface="Calibri"/>
                <a:cs typeface="Calibri"/>
              </a:rPr>
              <a:t>Choose sets of minimum total cost so that every element is covered.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1700" b="1" i="0" dirty="0">
                <a:solidFill>
                  <a:srgbClr val="BFD8DB"/>
                </a:solidFill>
                <a:latin typeface="Cambria"/>
                <a:cs typeface="Cambria"/>
              </a:rPr>
              <a:t>minimise  Σ wⱼ xⱼ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dirty="0">
                <a:solidFill>
                  <a:srgbClr val="BFD8DB"/>
                </a:solidFill>
                <a:latin typeface="Calibri"/>
                <a:cs typeface="Calibri"/>
              </a:rPr>
              <a:t>every element in at least one selected set,  xⱼ ∈ {0, 1}</a:t>
            </a:r>
          </a:p>
        </p:txBody>
      </p:sp>
      <p:sp>
        <p:nvSpPr>
          <p:cNvPr id="6" name="Stat 6"/>
          <p:cNvSpPr txBox="1"/>
          <p:nvPr/>
        </p:nvSpPr>
        <p:spPr>
          <a:xfrm>
            <a:off x="640080" y="4526280"/>
            <a:ext cx="1325880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i="0" dirty="0">
                <a:solidFill>
                  <a:srgbClr val="E8873A"/>
                </a:solidFill>
                <a:latin typeface="Cambria"/>
                <a:cs typeface="Cambria"/>
              </a:rPr>
              <a:t>42</a:t>
            </a:r>
          </a:p>
        </p:txBody>
      </p:sp>
      <p:sp>
        <p:nvSpPr>
          <p:cNvPr id="7" name="Stat label 7"/>
          <p:cNvSpPr txBox="1"/>
          <p:nvPr/>
        </p:nvSpPr>
        <p:spPr>
          <a:xfrm>
            <a:off x="2011680" y="4526280"/>
            <a:ext cx="2194560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dirty="0">
                <a:solidFill>
                  <a:srgbClr val="FFFFFF"/>
                </a:solidFill>
                <a:latin typeface="Calibri"/>
                <a:cs typeface="Calibri"/>
              </a:rPr>
              <a:t>OR-Library benchmark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dirty="0">
                <a:solidFill>
                  <a:srgbClr val="FFFFFF"/>
                </a:solidFill>
                <a:latin typeface="Calibri"/>
                <a:cs typeface="Calibri"/>
              </a:rPr>
              <a:t>instances (sets 4, 5, 6, A–D)</a:t>
            </a:r>
          </a:p>
        </p:txBody>
      </p:sp>
      <p:sp>
        <p:nvSpPr>
          <p:cNvPr id="8" name="Stat 8"/>
          <p:cNvSpPr txBox="1"/>
          <p:nvPr/>
        </p:nvSpPr>
        <p:spPr>
          <a:xfrm>
            <a:off x="4434840" y="4526280"/>
            <a:ext cx="1325880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i="0" dirty="0">
                <a:solidFill>
                  <a:srgbClr val="E8873A"/>
                </a:solidFill>
                <a:latin typeface="Cambria"/>
                <a:cs typeface="Cambria"/>
              </a:rPr>
              <a:t>3</a:t>
            </a:r>
          </a:p>
        </p:txBody>
      </p:sp>
      <p:sp>
        <p:nvSpPr>
          <p:cNvPr id="9" name="Stat label 9"/>
          <p:cNvSpPr txBox="1"/>
          <p:nvPr/>
        </p:nvSpPr>
        <p:spPr>
          <a:xfrm>
            <a:off x="5806440" y="4526280"/>
            <a:ext cx="2194560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dirty="0">
                <a:solidFill>
                  <a:srgbClr val="FFFFFF"/>
                </a:solidFill>
                <a:latin typeface="Calibri"/>
                <a:cs typeface="Calibri"/>
              </a:rPr>
              <a:t>dynamic constructive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dirty="0">
                <a:solidFill>
                  <a:srgbClr val="FFFFFF"/>
                </a:solidFill>
                <a:latin typeface="Calibri"/>
                <a:cs typeface="Calibri"/>
              </a:rPr>
              <a:t>heuristics, each with and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dirty="0">
                <a:solidFill>
                  <a:srgbClr val="FFFFFF"/>
                </a:solidFill>
                <a:latin typeface="Calibri"/>
                <a:cs typeface="Calibri"/>
              </a:rPr>
              <a:t>without RE</a:t>
            </a:r>
          </a:p>
        </p:txBody>
      </p:sp>
      <p:sp>
        <p:nvSpPr>
          <p:cNvPr id="10" name="Stat 10"/>
          <p:cNvSpPr txBox="1"/>
          <p:nvPr/>
        </p:nvSpPr>
        <p:spPr>
          <a:xfrm>
            <a:off x="8229600" y="4526280"/>
            <a:ext cx="1325880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i="0" dirty="0">
                <a:solidFill>
                  <a:srgbClr val="E8873A"/>
                </a:solidFill>
                <a:latin typeface="Cambria"/>
                <a:cs typeface="Cambria"/>
              </a:rPr>
              <a:t>+1</a:t>
            </a:r>
          </a:p>
        </p:txBody>
      </p:sp>
      <p:sp>
        <p:nvSpPr>
          <p:cNvPr id="11" name="Stat label 11"/>
          <p:cNvSpPr txBox="1"/>
          <p:nvPr/>
        </p:nvSpPr>
        <p:spPr>
          <a:xfrm>
            <a:off x="9601200" y="4526280"/>
            <a:ext cx="2194560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dirty="0">
                <a:solidFill>
                  <a:srgbClr val="FFFFFF"/>
                </a:solidFill>
                <a:latin typeface="Calibri"/>
                <a:cs typeface="Calibri"/>
              </a:rPr>
              <a:t>neighbourhood search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dirty="0">
                <a:solidFill>
                  <a:srgbClr val="FFFFFF"/>
                </a:solidFill>
                <a:latin typeface="Calibri"/>
                <a:cs typeface="Calibri"/>
              </a:rPr>
              <a:t>started from the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dirty="0">
                <a:solidFill>
                  <a:srgbClr val="FFFFFF"/>
                </a:solidFill>
                <a:latin typeface="Calibri"/>
                <a:cs typeface="Calibri"/>
              </a:rPr>
              <a:t>constructed covers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1" i="0" dirty="0">
                <a:solidFill>
                  <a:srgbClr val="1B2A2F"/>
                </a:solidFill>
                <a:latin typeface="Cambria"/>
                <a:cs typeface="Cambria"/>
              </a:rPr>
              <a:t>Three dynamic constructive heuristics</a:t>
            </a:r>
          </a:p>
        </p:txBody>
      </p:sp>
      <p:sp>
        <p:nvSpPr>
          <p:cNvPr id="4" name="Subtitle 4"/>
          <p:cNvSpPr txBox="1"/>
          <p:nvPr/>
        </p:nvSpPr>
        <p:spPr>
          <a:xfrm>
            <a:off x="548640" y="1115568"/>
            <a:ext cx="110642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dirty="0">
                <a:solidFill>
                  <a:srgbClr val="5B6B70"/>
                </a:solidFill>
                <a:latin typeface="Calibri"/>
                <a:cs typeface="Calibri"/>
              </a:rPr>
              <a:t>Every step adds one set; scores are recomputed from the current partial solution.</a:t>
            </a:r>
          </a:p>
        </p:txBody>
      </p:sp>
      <p:sp>
        <p:nvSpPr>
          <p:cNvPr id="5" name="Card 5"/>
          <p:cNvSpPr txBox="1"/>
          <p:nvPr/>
        </p:nvSpPr>
        <p:spPr>
          <a:xfrm>
            <a:off x="548640" y="1737360"/>
            <a:ext cx="3520440" cy="3520440"/>
          </a:xfrm>
          <a:prstGeom prst="roundRect">
            <a:avLst>
              <a:gd name="adj" fmla="val 4000"/>
            </a:avLst>
          </a:prstGeom>
          <a:solidFill>
            <a:srgbClr val="EEF4F5"/>
          </a:solidFill>
          <a:ln>
            <a:noFill/>
          </a:ln>
        </p:spPr>
        <p:txBody>
          <a:bodyPr wrap="square" lIns="109728" tIns="109728" rIns="109728" bIns="109728" anchor="t">
            <a:noAutofit/>
          </a:bodyPr>
          <a:lstStyle/>
          <a:p>
            <a:endParaRPr lang="en-US"/>
          </a:p>
        </p:txBody>
      </p:sp>
      <p:sp>
        <p:nvSpPr>
          <p:cNvPr id="6" name="Badge 6"/>
          <p:cNvSpPr txBox="1"/>
          <p:nvPr/>
        </p:nvSpPr>
        <p:spPr>
          <a:xfrm>
            <a:off x="777240" y="1938528"/>
            <a:ext cx="868680" cy="420624"/>
          </a:xfrm>
          <a:prstGeom prst="roundRect">
            <a:avLst>
              <a:gd name="adj" fmla="val 30000"/>
            </a:avLst>
          </a:prstGeom>
          <a:solidFill>
            <a:srgbClr val="9AA0A6"/>
          </a:solidFill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dirty="0">
                <a:solidFill>
                  <a:srgbClr val="FFFFFF"/>
                </a:solidFill>
                <a:latin typeface="Calibri"/>
                <a:cs typeface="Calibri"/>
              </a:rPr>
              <a:t>CH1</a:t>
            </a:r>
          </a:p>
        </p:txBody>
      </p:sp>
      <p:sp>
        <p:nvSpPr>
          <p:cNvPr id="7" name="Card head 7"/>
          <p:cNvSpPr txBox="1"/>
          <p:nvPr/>
        </p:nvSpPr>
        <p:spPr>
          <a:xfrm>
            <a:off x="777240" y="2514600"/>
            <a:ext cx="31089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 i="0" dirty="0">
                <a:solidFill>
                  <a:srgbClr val="1B2A2F"/>
                </a:solidFill>
                <a:latin typeface="Cambria"/>
                <a:cs typeface="Cambria"/>
              </a:rPr>
              <a:t>Random element, random set</a:t>
            </a:r>
          </a:p>
        </p:txBody>
      </p:sp>
      <p:sp>
        <p:nvSpPr>
          <p:cNvPr id="8" name="Card body 8"/>
          <p:cNvSpPr txBox="1"/>
          <p:nvPr/>
        </p:nvSpPr>
        <p:spPr>
          <a:xfrm>
            <a:off x="777240" y="3017520"/>
            <a:ext cx="3108960" cy="1691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marL="228600" indent="-2286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1500" b="0" i="0" dirty="0">
                <a:solidFill>
                  <a:srgbClr val="1B2A2F"/>
                </a:solidFill>
                <a:latin typeface="Calibri"/>
                <a:cs typeface="Calibri"/>
              </a:rPr>
              <a:t>Pick a random uncovered element</a:t>
            </a:r>
          </a:p>
          <a:p>
            <a:pPr algn="l" marL="228600" indent="-2286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1500" b="0" i="0" dirty="0">
                <a:solidFill>
                  <a:srgbClr val="1B2A2F"/>
                </a:solidFill>
                <a:latin typeface="Calibri"/>
                <a:cs typeface="Calibri"/>
              </a:rPr>
              <a:t>Add a random set that covers it</a:t>
            </a:r>
          </a:p>
          <a:p>
            <a:pPr algn="l" marL="228600" indent="-2286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1500" b="0" i="0" dirty="0">
                <a:solidFill>
                  <a:srgbClr val="1B2A2F"/>
                </a:solidFill>
                <a:latin typeface="Calibri"/>
                <a:cs typeface="Calibri"/>
              </a:rPr>
              <a:t>Uses no cost or coverage information</a:t>
            </a:r>
          </a:p>
        </p:txBody>
      </p:sp>
      <p:sp>
        <p:nvSpPr>
          <p:cNvPr id="9" name="Card foot 9"/>
          <p:cNvSpPr txBox="1"/>
          <p:nvPr/>
        </p:nvSpPr>
        <p:spPr>
          <a:xfrm>
            <a:off x="777240" y="4709160"/>
            <a:ext cx="3108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B6B70"/>
                </a:solidFill>
                <a:latin typeface="Calibri"/>
                <a:cs typeface="Calibri"/>
              </a:rPr>
              <a:t>The baseline</a:t>
            </a:r>
          </a:p>
        </p:txBody>
      </p:sp>
      <p:sp>
        <p:nvSpPr>
          <p:cNvPr id="10" name="Card 10"/>
          <p:cNvSpPr txBox="1"/>
          <p:nvPr/>
        </p:nvSpPr>
        <p:spPr>
          <a:xfrm>
            <a:off x="4343400" y="1737360"/>
            <a:ext cx="3520440" cy="3520440"/>
          </a:xfrm>
          <a:prstGeom prst="roundRect">
            <a:avLst>
              <a:gd name="adj" fmla="val 4000"/>
            </a:avLst>
          </a:prstGeom>
          <a:solidFill>
            <a:srgbClr val="EEF4F5"/>
          </a:solidFill>
          <a:ln>
            <a:noFill/>
          </a:ln>
        </p:spPr>
        <p:txBody>
          <a:bodyPr wrap="square" lIns="109728" tIns="109728" rIns="109728" bIns="109728" anchor="t">
            <a:noAutofit/>
          </a:bodyPr>
          <a:lstStyle/>
          <a:p>
            <a:endParaRPr lang="en-US"/>
          </a:p>
        </p:txBody>
      </p:sp>
      <p:sp>
        <p:nvSpPr>
          <p:cNvPr id="11" name="Badge 11"/>
          <p:cNvSpPr txBox="1"/>
          <p:nvPr/>
        </p:nvSpPr>
        <p:spPr>
          <a:xfrm>
            <a:off x="4572000" y="1938528"/>
            <a:ext cx="868680" cy="420624"/>
          </a:xfrm>
          <a:prstGeom prst="roundRect">
            <a:avLst>
              <a:gd name="adj" fmla="val 30000"/>
            </a:avLst>
          </a:prstGeom>
          <a:solidFill>
            <a:srgbClr val="E8873A"/>
          </a:solidFill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dirty="0">
                <a:solidFill>
                  <a:srgbClr val="FFFFFF"/>
                </a:solidFill>
                <a:latin typeface="Calibri"/>
                <a:cs typeface="Calibri"/>
              </a:rPr>
              <a:t>CH2</a:t>
            </a:r>
          </a:p>
        </p:txBody>
      </p:sp>
      <p:sp>
        <p:nvSpPr>
          <p:cNvPr id="12" name="Card head 12"/>
          <p:cNvSpPr txBox="1"/>
          <p:nvPr/>
        </p:nvSpPr>
        <p:spPr>
          <a:xfrm>
            <a:off x="4572000" y="2514600"/>
            <a:ext cx="31089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 i="0" dirty="0">
                <a:solidFill>
                  <a:srgbClr val="1B2A2F"/>
                </a:solidFill>
                <a:latin typeface="Cambria"/>
                <a:cs typeface="Cambria"/>
              </a:rPr>
              <a:t>Random element, best set</a:t>
            </a:r>
          </a:p>
        </p:txBody>
      </p:sp>
      <p:sp>
        <p:nvSpPr>
          <p:cNvPr id="13" name="Card body 13"/>
          <p:cNvSpPr txBox="1"/>
          <p:nvPr/>
        </p:nvSpPr>
        <p:spPr>
          <a:xfrm>
            <a:off x="4572000" y="3017520"/>
            <a:ext cx="3108960" cy="1691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marL="228600" indent="-2286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1500" b="0" i="0" dirty="0">
                <a:solidFill>
                  <a:srgbClr val="1B2A2F"/>
                </a:solidFill>
                <a:latin typeface="Calibri"/>
                <a:cs typeface="Calibri"/>
              </a:rPr>
              <a:t>Pick a random uncovered element</a:t>
            </a:r>
          </a:p>
          <a:p>
            <a:pPr algn="l" marL="228600" indent="-2286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1500" b="0" i="0" dirty="0">
                <a:solidFill>
                  <a:srgbClr val="1B2A2F"/>
                </a:solidFill>
                <a:latin typeface="Calibri"/>
                <a:cs typeface="Calibri"/>
              </a:rPr>
              <a:t>Add the covering set with the lowest cost ÷ newly covered elements</a:t>
            </a:r>
          </a:p>
        </p:txBody>
      </p:sp>
      <p:sp>
        <p:nvSpPr>
          <p:cNvPr id="14" name="Card foot 14"/>
          <p:cNvSpPr txBox="1"/>
          <p:nvPr/>
        </p:nvSpPr>
        <p:spPr>
          <a:xfrm>
            <a:off x="4572000" y="4709160"/>
            <a:ext cx="3108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B6B70"/>
                </a:solidFill>
                <a:latin typeface="Calibri"/>
                <a:cs typeface="Calibri"/>
              </a:rPr>
              <a:t>Element-driven greedy</a:t>
            </a:r>
          </a:p>
        </p:txBody>
      </p:sp>
      <p:sp>
        <p:nvSpPr>
          <p:cNvPr id="15" name="Card 15"/>
          <p:cNvSpPr txBox="1"/>
          <p:nvPr/>
        </p:nvSpPr>
        <p:spPr>
          <a:xfrm>
            <a:off x="8138160" y="1737360"/>
            <a:ext cx="3520440" cy="3520440"/>
          </a:xfrm>
          <a:prstGeom prst="roundRect">
            <a:avLst>
              <a:gd name="adj" fmla="val 4000"/>
            </a:avLst>
          </a:prstGeom>
          <a:solidFill>
            <a:srgbClr val="EEF4F5"/>
          </a:solidFill>
          <a:ln>
            <a:noFill/>
          </a:ln>
        </p:spPr>
        <p:txBody>
          <a:bodyPr wrap="square" lIns="109728" tIns="109728" rIns="109728" bIns="109728" anchor="t">
            <a:noAutofit/>
          </a:bodyPr>
          <a:lstStyle/>
          <a:p>
            <a:endParaRPr lang="en-US"/>
          </a:p>
        </p:txBody>
      </p:sp>
      <p:sp>
        <p:nvSpPr>
          <p:cNvPr id="16" name="Badge 16"/>
          <p:cNvSpPr txBox="1"/>
          <p:nvPr/>
        </p:nvSpPr>
        <p:spPr>
          <a:xfrm>
            <a:off x="8366760" y="1938528"/>
            <a:ext cx="868680" cy="420624"/>
          </a:xfrm>
          <a:prstGeom prst="roundRect">
            <a:avLst>
              <a:gd name="adj" fmla="val 30000"/>
            </a:avLst>
          </a:prstGeom>
          <a:solidFill>
            <a:srgbClr val="1F6F78"/>
          </a:solidFill>
          <a:ln>
            <a:noFill/>
          </a:ln>
        </p:spPr>
        <p:txBody>
          <a:bodyPr wrap="square" lIns="18288" tIns="18288" rIns="18288" bIns="18288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dirty="0">
                <a:solidFill>
                  <a:srgbClr val="FFFFFF"/>
                </a:solidFill>
                <a:latin typeface="Calibri"/>
                <a:cs typeface="Calibri"/>
              </a:rPr>
              <a:t>CH3</a:t>
            </a:r>
          </a:p>
        </p:txBody>
      </p:sp>
      <p:sp>
        <p:nvSpPr>
          <p:cNvPr id="17" name="Card head 17"/>
          <p:cNvSpPr txBox="1"/>
          <p:nvPr/>
        </p:nvSpPr>
        <p:spPr>
          <a:xfrm>
            <a:off x="8366760" y="2514600"/>
            <a:ext cx="310896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 i="0" dirty="0">
                <a:solidFill>
                  <a:srgbClr val="1B2A2F"/>
                </a:solidFill>
                <a:latin typeface="Cambria"/>
                <a:cs typeface="Cambria"/>
              </a:rPr>
              <a:t>Best set overall</a:t>
            </a:r>
          </a:p>
        </p:txBody>
      </p:sp>
      <p:sp>
        <p:nvSpPr>
          <p:cNvPr id="18" name="Card body 18"/>
          <p:cNvSpPr txBox="1"/>
          <p:nvPr/>
        </p:nvSpPr>
        <p:spPr>
          <a:xfrm>
            <a:off x="8366760" y="3017520"/>
            <a:ext cx="3108960" cy="1691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marL="228600" indent="-2286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1500" b="0" i="0" dirty="0">
                <a:solidFill>
                  <a:srgbClr val="1B2A2F"/>
                </a:solidFill>
                <a:latin typeface="Calibri"/>
                <a:cs typeface="Calibri"/>
              </a:rPr>
              <a:t>Look at every set that still covers something new</a:t>
            </a:r>
          </a:p>
          <a:p>
            <a:pPr algn="l" marL="228600" indent="-228600">
              <a:spcBef>
                <a:spcPts val="0"/>
              </a:spcBef>
              <a:spcAft>
                <a:spcPts val="600"/>
              </a:spcAft>
              <a:buFont typeface="Arial"/>
              <a:buChar char="•"/>
            </a:pPr>
            <a:r>
              <a:rPr lang="en-US" sz="1500" b="0" i="0" dirty="0">
                <a:solidFill>
                  <a:srgbClr val="1B2A2F"/>
                </a:solidFill>
                <a:latin typeface="Calibri"/>
                <a:cs typeface="Calibri"/>
              </a:rPr>
              <a:t>Add the one with the lowest cost ÷ newly covered elements</a:t>
            </a:r>
          </a:p>
        </p:txBody>
      </p:sp>
      <p:sp>
        <p:nvSpPr>
          <p:cNvPr id="19" name="Card foot 19"/>
          <p:cNvSpPr txBox="1"/>
          <p:nvPr/>
        </p:nvSpPr>
        <p:spPr>
          <a:xfrm>
            <a:off x="8366760" y="4709160"/>
            <a:ext cx="3108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B6B70"/>
                </a:solidFill>
                <a:latin typeface="Calibri"/>
                <a:cs typeface="Calibri"/>
              </a:rPr>
              <a:t>Chvátal’s greedy rule</a:t>
            </a:r>
          </a:p>
        </p:txBody>
      </p:sp>
      <p:sp>
        <p:nvSpPr>
          <p:cNvPr id="20" name="Note 20"/>
          <p:cNvSpPr txBox="1"/>
          <p:nvPr/>
        </p:nvSpPr>
        <p:spPr>
          <a:xfrm>
            <a:off x="548640" y="5468112"/>
            <a:ext cx="11064240" cy="960120"/>
          </a:xfrm>
          <a:prstGeom prst="roundRect">
            <a:avLst>
              <a:gd name="adj" fmla="val 8000"/>
            </a:avLst>
          </a:prstGeom>
          <a:solidFill>
            <a:srgbClr val="1F6F78"/>
          </a:solidFill>
          <a:ln>
            <a:noFill/>
          </a:ln>
        </p:spPr>
        <p:txBody>
          <a:bodyPr wrap="square" lIns="228600" tIns="228600" rIns="228600" bIns="22860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dirty="0">
                <a:solidFill>
                  <a:srgbClr val="FFFFFF"/>
                </a:solidFill>
                <a:latin typeface="Calibri"/>
                <a:cs typeface="Calibri"/>
              </a:rPr>
              <a:t>Dynamic bookkeeping  </a:t>
            </a:r>
            <a:r>
              <a:rPr lang="en-US" sz="1500" b="0" i="0" dirty="0">
                <a:solidFill>
                  <a:srgbClr val="FFFFFF"/>
                </a:solidFill>
                <a:latin typeface="Calibri"/>
                <a:cs typeface="Calibri"/>
              </a:rPr>
              <a:t>Adding a set updates the uncovered list and the “still uncovered” count of every affected set – only what changed is touched. A set with nothing new to cover leaves the candidate list, so no redundant set is ever added.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1" i="0" dirty="0">
                <a:solidFill>
                  <a:srgbClr val="1B2A2F"/>
                </a:solidFill>
                <a:latin typeface="Cambria"/>
                <a:cs typeface="Cambria"/>
              </a:rPr>
              <a:t>From a cover to a better cover</a:t>
            </a:r>
          </a:p>
        </p:txBody>
      </p:sp>
      <p:sp>
        <p:nvSpPr>
          <p:cNvPr id="4" name="Subtitle 4"/>
          <p:cNvSpPr txBox="1"/>
          <p:nvPr/>
        </p:nvSpPr>
        <p:spPr>
          <a:xfrm>
            <a:off x="548640" y="1115568"/>
            <a:ext cx="110642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dirty="0">
                <a:solidFill>
                  <a:srgbClr val="5B6B70"/>
                </a:solidFill>
                <a:latin typeface="Calibri"/>
                <a:cs typeface="Calibri"/>
              </a:rPr>
              <a:t>Three stages, all built on the same incrementally updated state.</a:t>
            </a:r>
          </a:p>
        </p:txBody>
      </p:sp>
      <p:sp>
        <p:nvSpPr>
          <p:cNvPr id="5" name="Stage 5"/>
          <p:cNvSpPr txBox="1"/>
          <p:nvPr/>
        </p:nvSpPr>
        <p:spPr>
          <a:xfrm>
            <a:off x="548640" y="1783080"/>
            <a:ext cx="3246120" cy="2331720"/>
          </a:xfrm>
          <a:prstGeom prst="roundRect">
            <a:avLst>
              <a:gd name="adj" fmla="val 4000"/>
            </a:avLst>
          </a:prstGeom>
          <a:solidFill>
            <a:srgbClr val="EEF4F5"/>
          </a:solidFill>
          <a:ln>
            <a:noFill/>
          </a:ln>
        </p:spPr>
        <p:txBody>
          <a:bodyPr wrap="square" lIns="109728" tIns="109728" rIns="109728" bIns="109728" anchor="t">
            <a:noAutofit/>
          </a:bodyPr>
          <a:lstStyle/>
          <a:p>
            <a:endParaRPr lang="en-US"/>
          </a:p>
        </p:txBody>
      </p:sp>
      <p:sp>
        <p:nvSpPr>
          <p:cNvPr id="6" name="Step 6"/>
          <p:cNvSpPr txBox="1"/>
          <p:nvPr/>
        </p:nvSpPr>
        <p:spPr>
          <a:xfrm>
            <a:off x="777240" y="1965960"/>
            <a:ext cx="502920" cy="502920"/>
          </a:xfrm>
          <a:prstGeom prst="ellipse">
            <a:avLst/>
          </a:prstGeom>
          <a:solidFill>
            <a:srgbClr val="9AA0A6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dirty="0">
                <a:solidFill>
                  <a:srgbClr val="FFFFFF"/>
                </a:solidFill>
                <a:latin typeface="Cambria"/>
                <a:cs typeface="Cambria"/>
              </a:rPr>
              <a:t>1</a:t>
            </a:r>
          </a:p>
        </p:txBody>
      </p:sp>
      <p:sp>
        <p:nvSpPr>
          <p:cNvPr id="7" name="Stage head 7"/>
          <p:cNvSpPr txBox="1"/>
          <p:nvPr/>
        </p:nvSpPr>
        <p:spPr>
          <a:xfrm>
            <a:off x="1417320" y="196596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dirty="0">
                <a:solidFill>
                  <a:srgbClr val="1B2A2F"/>
                </a:solidFill>
                <a:latin typeface="Cambria"/>
                <a:cs typeface="Cambria"/>
              </a:rPr>
              <a:t>Construct</a:t>
            </a:r>
          </a:p>
        </p:txBody>
      </p:sp>
      <p:sp>
        <p:nvSpPr>
          <p:cNvPr id="8" name="Stage body 8"/>
          <p:cNvSpPr txBox="1"/>
          <p:nvPr/>
        </p:nvSpPr>
        <p:spPr>
          <a:xfrm>
            <a:off x="777240" y="2651760"/>
            <a:ext cx="278892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dirty="0">
                <a:solidFill>
                  <a:srgbClr val="1B2A2F"/>
                </a:solidFill>
                <a:latin typeface="Calibri"/>
                <a:cs typeface="Calibri"/>
              </a:rPr>
              <a:t>CH1, CH2 or CH3 builds a complete cover.</a:t>
            </a:r>
          </a:p>
        </p:txBody>
      </p:sp>
      <p:sp>
        <p:nvSpPr>
          <p:cNvPr id="9" name="Arrow 9"/>
          <p:cNvSpPr txBox="1"/>
          <p:nvPr/>
        </p:nvSpPr>
        <p:spPr>
          <a:xfrm>
            <a:off x="3904488" y="2788920"/>
            <a:ext cx="443484" cy="411480"/>
          </a:xfrm>
          <a:prstGeom prst="rightArrow">
            <a:avLst/>
          </a:prstGeom>
          <a:solidFill>
            <a:srgbClr val="9AA0A6"/>
          </a:solidFill>
          <a:ln>
            <a:noFill/>
          </a:ln>
        </p:spPr>
        <p:txBody>
          <a:bodyPr wrap="square" lIns="109728" tIns="109728" rIns="109728" bIns="109728" anchor="t">
            <a:noAutofit/>
          </a:bodyPr>
          <a:lstStyle/>
          <a:p>
            <a:endParaRPr lang="en-US"/>
          </a:p>
        </p:txBody>
      </p:sp>
      <p:sp>
        <p:nvSpPr>
          <p:cNvPr id="10" name="Stage 10"/>
          <p:cNvSpPr txBox="1"/>
          <p:nvPr/>
        </p:nvSpPr>
        <p:spPr>
          <a:xfrm>
            <a:off x="4457700" y="1783080"/>
            <a:ext cx="3246120" cy="2331720"/>
          </a:xfrm>
          <a:prstGeom prst="roundRect">
            <a:avLst>
              <a:gd name="adj" fmla="val 4000"/>
            </a:avLst>
          </a:prstGeom>
          <a:solidFill>
            <a:srgbClr val="EEF4F5"/>
          </a:solidFill>
          <a:ln>
            <a:noFill/>
          </a:ln>
        </p:spPr>
        <p:txBody>
          <a:bodyPr wrap="square" lIns="109728" tIns="109728" rIns="109728" bIns="109728" anchor="t">
            <a:noAutofit/>
          </a:bodyPr>
          <a:lstStyle/>
          <a:p>
            <a:endParaRPr lang="en-US"/>
          </a:p>
        </p:txBody>
      </p:sp>
      <p:sp>
        <p:nvSpPr>
          <p:cNvPr id="11" name="Step 11"/>
          <p:cNvSpPr txBox="1"/>
          <p:nvPr/>
        </p:nvSpPr>
        <p:spPr>
          <a:xfrm>
            <a:off x="4686300" y="1965960"/>
            <a:ext cx="502920" cy="502920"/>
          </a:xfrm>
          <a:prstGeom prst="ellipse">
            <a:avLst/>
          </a:prstGeom>
          <a:solidFill>
            <a:srgbClr val="E8873A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dirty="0">
                <a:solidFill>
                  <a:srgbClr val="FFFFFF"/>
                </a:solidFill>
                <a:latin typeface="Cambria"/>
                <a:cs typeface="Cambria"/>
              </a:rPr>
              <a:t>2</a:t>
            </a:r>
          </a:p>
        </p:txBody>
      </p:sp>
      <p:sp>
        <p:nvSpPr>
          <p:cNvPr id="12" name="Stage head 12"/>
          <p:cNvSpPr txBox="1"/>
          <p:nvPr/>
        </p:nvSpPr>
        <p:spPr>
          <a:xfrm>
            <a:off x="5326380" y="196596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dirty="0">
                <a:solidFill>
                  <a:srgbClr val="1B2A2F"/>
                </a:solidFill>
                <a:latin typeface="Cambria"/>
                <a:cs typeface="Cambria"/>
              </a:rPr>
              <a:t>Redundancy elimination (RE)</a:t>
            </a:r>
          </a:p>
        </p:txBody>
      </p:sp>
      <p:sp>
        <p:nvSpPr>
          <p:cNvPr id="13" name="Stage body 13"/>
          <p:cNvSpPr txBox="1"/>
          <p:nvPr/>
        </p:nvSpPr>
        <p:spPr>
          <a:xfrm>
            <a:off x="4686300" y="2651760"/>
            <a:ext cx="278892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dirty="0">
                <a:solidFill>
                  <a:srgbClr val="1B2A2F"/>
                </a:solidFill>
                <a:latin typeface="Calibri"/>
                <a:cs typeface="Calibri"/>
              </a:rPr>
              <a:t>Scan the chosen sets, most expensive first, and drop any set whose elements are all covered by others. One pass is enough.</a:t>
            </a:r>
          </a:p>
        </p:txBody>
      </p:sp>
      <p:sp>
        <p:nvSpPr>
          <p:cNvPr id="14" name="Arrow 14"/>
          <p:cNvSpPr txBox="1"/>
          <p:nvPr/>
        </p:nvSpPr>
        <p:spPr>
          <a:xfrm>
            <a:off x="7813548" y="2788920"/>
            <a:ext cx="443484" cy="411480"/>
          </a:xfrm>
          <a:prstGeom prst="rightArrow">
            <a:avLst/>
          </a:prstGeom>
          <a:solidFill>
            <a:srgbClr val="9AA0A6"/>
          </a:solidFill>
          <a:ln>
            <a:noFill/>
          </a:ln>
        </p:spPr>
        <p:txBody>
          <a:bodyPr wrap="square" lIns="109728" tIns="109728" rIns="109728" bIns="109728" anchor="t">
            <a:noAutofit/>
          </a:bodyPr>
          <a:lstStyle/>
          <a:p>
            <a:endParaRPr lang="en-US"/>
          </a:p>
        </p:txBody>
      </p:sp>
      <p:sp>
        <p:nvSpPr>
          <p:cNvPr id="15" name="Stage 15"/>
          <p:cNvSpPr txBox="1"/>
          <p:nvPr/>
        </p:nvSpPr>
        <p:spPr>
          <a:xfrm>
            <a:off x="8366760" y="1783080"/>
            <a:ext cx="3246120" cy="2331720"/>
          </a:xfrm>
          <a:prstGeom prst="roundRect">
            <a:avLst>
              <a:gd name="adj" fmla="val 4000"/>
            </a:avLst>
          </a:prstGeom>
          <a:solidFill>
            <a:srgbClr val="EEF4F5"/>
          </a:solidFill>
          <a:ln>
            <a:noFill/>
          </a:ln>
        </p:spPr>
        <p:txBody>
          <a:bodyPr wrap="square" lIns="109728" tIns="109728" rIns="109728" bIns="109728" anchor="t">
            <a:noAutofit/>
          </a:bodyPr>
          <a:lstStyle/>
          <a:p>
            <a:endParaRPr lang="en-US"/>
          </a:p>
        </p:txBody>
      </p:sp>
      <p:sp>
        <p:nvSpPr>
          <p:cNvPr id="16" name="Step 16"/>
          <p:cNvSpPr txBox="1"/>
          <p:nvPr/>
        </p:nvSpPr>
        <p:spPr>
          <a:xfrm>
            <a:off x="8595360" y="1965960"/>
            <a:ext cx="502920" cy="502920"/>
          </a:xfrm>
          <a:prstGeom prst="ellipse">
            <a:avLst/>
          </a:prstGeom>
          <a:solidFill>
            <a:srgbClr val="1F6F78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dirty="0">
                <a:solidFill>
                  <a:srgbClr val="FFFFFF"/>
                </a:solidFill>
                <a:latin typeface="Cambria"/>
                <a:cs typeface="Cambria"/>
              </a:rPr>
              <a:t>3</a:t>
            </a:r>
          </a:p>
        </p:txBody>
      </p:sp>
      <p:sp>
        <p:nvSpPr>
          <p:cNvPr id="17" name="Stage head 17"/>
          <p:cNvSpPr txBox="1"/>
          <p:nvPr/>
        </p:nvSpPr>
        <p:spPr>
          <a:xfrm>
            <a:off x="9235440" y="196596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dirty="0">
                <a:solidFill>
                  <a:srgbClr val="1B2A2F"/>
                </a:solidFill>
                <a:latin typeface="Cambria"/>
                <a:cs typeface="Cambria"/>
              </a:rPr>
              <a:t>Neighbourhood search</a:t>
            </a:r>
          </a:p>
        </p:txBody>
      </p:sp>
      <p:sp>
        <p:nvSpPr>
          <p:cNvPr id="18" name="Stage body 18"/>
          <p:cNvSpPr txBox="1"/>
          <p:nvPr/>
        </p:nvSpPr>
        <p:spPr>
          <a:xfrm>
            <a:off x="8595360" y="2651760"/>
            <a:ext cx="278892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dirty="0">
                <a:solidFill>
                  <a:srgbClr val="1B2A2F"/>
                </a:solidFill>
                <a:latin typeface="Calibri"/>
                <a:cs typeface="Calibri"/>
              </a:rPr>
              <a:t>Move: drop one set, repair greedily without it, then RE. Take improving moves (first or best improvement) until none is left.</a:t>
            </a:r>
          </a:p>
        </p:txBody>
      </p:sp>
      <p:sp>
        <p:nvSpPr>
          <p:cNvPr id="19" name="Info 19"/>
          <p:cNvSpPr txBox="1"/>
          <p:nvPr/>
        </p:nvSpPr>
        <p:spPr>
          <a:xfrm>
            <a:off x="548640" y="4434840"/>
            <a:ext cx="54406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F6F78"/>
            </a:solidFill>
          </a:ln>
        </p:spPr>
        <p:txBody>
          <a:bodyPr wrap="square" lIns="228600" tIns="228600" rIns="228600" bIns="228600" anchor="t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700" b="1" i="0" dirty="0">
                <a:solidFill>
                  <a:srgbClr val="1F6F78"/>
                </a:solidFill>
                <a:latin typeface="Cambria"/>
                <a:cs typeface="Cambria"/>
              </a:rPr>
              <a:t>Incremental evaluation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dirty="0">
                <a:solidFill>
                  <a:srgbClr val="1B2A2F"/>
                </a:solidFill>
                <a:latin typeface="Calibri"/>
                <a:cs typeface="Calibri"/>
              </a:rPr>
              <a:t>Each add or remove updates coverage counts, the uncovered list and per-set scores for the touched elements only. Tried moves are undone from a log – the state is never copied.</a:t>
            </a:r>
          </a:p>
        </p:txBody>
      </p:sp>
      <p:sp>
        <p:nvSpPr>
          <p:cNvPr id="20" name="Info 20"/>
          <p:cNvSpPr txBox="1"/>
          <p:nvPr/>
        </p:nvSpPr>
        <p:spPr>
          <a:xfrm>
            <a:off x="6172200" y="4434840"/>
            <a:ext cx="54406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F6F78"/>
            </a:solidFill>
          </a:ln>
        </p:spPr>
        <p:txBody>
          <a:bodyPr wrap="square" lIns="228600" tIns="228600" rIns="228600" bIns="228600" anchor="t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700" b="1" i="0" dirty="0">
                <a:solidFill>
                  <a:srgbClr val="1F6F78"/>
                </a:solidFill>
                <a:latin typeface="Cambria"/>
                <a:cs typeface="Cambria"/>
              </a:rPr>
              <a:t>Checked, not assumed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dirty="0">
                <a:solidFill>
                  <a:srgbClr val="1B2A2F"/>
                </a:solidFill>
                <a:latin typeface="Calibri"/>
                <a:cs typeface="Calibri"/>
              </a:rPr>
              <a:t>After every run the cover, its cost and (after RE) its minimality are recomputed from scratch and compared with the incremental values.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1" i="0" dirty="0">
                <a:solidFill>
                  <a:srgbClr val="1B2A2F"/>
                </a:solidFill>
                <a:latin typeface="Cambria"/>
                <a:cs typeface="Cambria"/>
              </a:rPr>
              <a:t>Results: construction, with and without RE</a:t>
            </a:r>
          </a:p>
        </p:txBody>
      </p:sp>
      <p:sp>
        <p:nvSpPr>
          <p:cNvPr id="4" name="Subtitle 4"/>
          <p:cNvSpPr txBox="1"/>
          <p:nvPr/>
        </p:nvSpPr>
        <p:spPr>
          <a:xfrm>
            <a:off x="548640" y="1115568"/>
            <a:ext cx="110642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dirty="0">
                <a:solidFill>
                  <a:srgbClr val="5B6B70"/>
                </a:solidFill>
                <a:latin typeface="Calibri"/>
                <a:cs typeface="Calibri"/>
              </a:rPr>
              <a:t>42 instances, one run per instance and method, same seed. Deviation from the best solution.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548640" y="1783080"/>
          <a:ext cx="5669280" cy="2267712"/>
        </p:xfrm>
        <a:graphic>
          <a:graphicData uri="http://schemas.openxmlformats.org/drawingml/2006/table">
            <a:tbl>
              <a:tblPr firstRow="1"/>
              <a:tblGrid>
                <a:gridCol w="1097280"/>
                <a:gridCol w="1463040"/>
                <a:gridCol w="1600200"/>
                <a:gridCol w="1508760"/>
              </a:tblGrid>
              <a:tr h="56692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Method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EE0"/>
                      </a:solidFill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Dev. no RE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EE0"/>
                      </a:solidFill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Dev. with RE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EE0"/>
                      </a:solidFill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Helped by RE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EE0"/>
                      </a:solidFill>
                    </a:lnB>
                    <a:solidFill>
                      <a:srgbClr val="1F6F7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i="0" dirty="0">
                          <a:solidFill>
                            <a:srgbClr val="1B2A2F"/>
                          </a:solidFill>
                          <a:latin typeface="Calibri"/>
                          <a:cs typeface="Calibri"/>
                        </a:rPr>
                        <a:t>CH1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E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 i="0" dirty="0">
                          <a:solidFill>
                            <a:srgbClr val="1B2A2F"/>
                          </a:solidFill>
                          <a:latin typeface="Calibri"/>
                          <a:cs typeface="Calibri"/>
                        </a:rPr>
                        <a:t>2297 %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E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 i="0" dirty="0">
                          <a:solidFill>
                            <a:srgbClr val="1B2A2F"/>
                          </a:solidFill>
                          <a:latin typeface="Calibri"/>
                          <a:cs typeface="Calibri"/>
                        </a:rPr>
                        <a:t>1756 %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E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 i="0" dirty="0">
                          <a:solidFill>
                            <a:srgbClr val="1B2A2F"/>
                          </a:solidFill>
                          <a:latin typeface="Calibri"/>
                          <a:cs typeface="Calibri"/>
                        </a:rPr>
                        <a:t>42 / 42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E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i="0" dirty="0">
                          <a:solidFill>
                            <a:srgbClr val="1B2A2F"/>
                          </a:solidFill>
                          <a:latin typeface="Calibri"/>
                          <a:cs typeface="Calibri"/>
                        </a:rPr>
                        <a:t>CH2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EE0"/>
                      </a:solidFill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 i="0" dirty="0">
                          <a:solidFill>
                            <a:srgbClr val="1B2A2F"/>
                          </a:solidFill>
                          <a:latin typeface="Calibri"/>
                          <a:cs typeface="Calibri"/>
                        </a:rPr>
                        <a:t>19.5 %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EE0"/>
                      </a:solidFill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 i="0" dirty="0">
                          <a:solidFill>
                            <a:srgbClr val="1B2A2F"/>
                          </a:solidFill>
                          <a:latin typeface="Calibri"/>
                          <a:cs typeface="Calibri"/>
                        </a:rPr>
                        <a:t>15.0 %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EE0"/>
                      </a:solidFill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 i="0" dirty="0">
                          <a:solidFill>
                            <a:srgbClr val="1B2A2F"/>
                          </a:solidFill>
                          <a:latin typeface="Calibri"/>
                          <a:cs typeface="Calibri"/>
                        </a:rPr>
                        <a:t>40 / 42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EE0"/>
                      </a:solidFill>
                    </a:lnB>
                    <a:solidFill>
                      <a:srgbClr val="EEF4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i="0" dirty="0">
                          <a:solidFill>
                            <a:srgbClr val="1B2A2F"/>
                          </a:solidFill>
                          <a:latin typeface="Calibri"/>
                          <a:cs typeface="Calibri"/>
                        </a:rPr>
                        <a:t>CH3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E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 i="0" dirty="0">
                          <a:solidFill>
                            <a:srgbClr val="1B2A2F"/>
                          </a:solidFill>
                          <a:latin typeface="Calibri"/>
                          <a:cs typeface="Calibri"/>
                        </a:rPr>
                        <a:t>13.0 %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E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 i="0" dirty="0">
                          <a:solidFill>
                            <a:srgbClr val="1B2A2F"/>
                          </a:solidFill>
                          <a:latin typeface="Calibri"/>
                          <a:cs typeface="Calibri"/>
                        </a:rPr>
                        <a:t>6.5 %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E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 i="0" dirty="0">
                          <a:solidFill>
                            <a:srgbClr val="1B2A2F"/>
                          </a:solidFill>
                          <a:latin typeface="Calibri"/>
                          <a:cs typeface="Calibri"/>
                        </a:rPr>
                        <a:t>42 / 42</a:t>
                      </a:r>
                    </a:p>
                  </a:txBody>
                  <a:tcPr marL="109728" marR="109728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E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ake 6"/>
          <p:cNvSpPr txBox="1"/>
          <p:nvPr/>
        </p:nvSpPr>
        <p:spPr>
          <a:xfrm>
            <a:off x="548640" y="4343400"/>
            <a:ext cx="224028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dirty="0">
                <a:solidFill>
                  <a:srgbClr val="E8873A"/>
                </a:solidFill>
                <a:latin typeface="Cambria"/>
                <a:cs typeface="Cambria"/>
              </a:rPr>
              <a:t>124 of 126</a:t>
            </a:r>
          </a:p>
        </p:txBody>
      </p:sp>
      <p:sp>
        <p:nvSpPr>
          <p:cNvPr id="7" name="Take label 7"/>
          <p:cNvSpPr txBox="1"/>
          <p:nvPr/>
        </p:nvSpPr>
        <p:spPr>
          <a:xfrm>
            <a:off x="2834640" y="4343400"/>
            <a:ext cx="352044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dirty="0">
                <a:solidFill>
                  <a:srgbClr val="1B2A2F"/>
                </a:solidFill>
                <a:latin typeface="Calibri"/>
                <a:cs typeface="Calibri"/>
              </a:rPr>
              <a:t>runs improved by RE; it never made a cover worse</a:t>
            </a:r>
          </a:p>
        </p:txBody>
      </p:sp>
      <p:sp>
        <p:nvSpPr>
          <p:cNvPr id="8" name="Take 8"/>
          <p:cNvSpPr txBox="1"/>
          <p:nvPr/>
        </p:nvSpPr>
        <p:spPr>
          <a:xfrm>
            <a:off x="548640" y="5001768"/>
            <a:ext cx="224028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dirty="0">
                <a:solidFill>
                  <a:srgbClr val="E8873A"/>
                </a:solidFill>
                <a:latin typeface="Cambria"/>
                <a:cs typeface="Cambria"/>
              </a:rPr>
              <a:t>13.0 % → 6.5 %</a:t>
            </a:r>
          </a:p>
        </p:txBody>
      </p:sp>
      <p:sp>
        <p:nvSpPr>
          <p:cNvPr id="9" name="Take label 9"/>
          <p:cNvSpPr txBox="1"/>
          <p:nvPr/>
        </p:nvSpPr>
        <p:spPr>
          <a:xfrm>
            <a:off x="2834640" y="5001768"/>
            <a:ext cx="352044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dirty="0">
                <a:solidFill>
                  <a:srgbClr val="1B2A2F"/>
                </a:solidFill>
                <a:latin typeface="Calibri"/>
                <a:cs typeface="Calibri"/>
              </a:rPr>
              <a:t>CH3 gains most from RE among the informed heuristics</a:t>
            </a:r>
          </a:p>
        </p:txBody>
      </p:sp>
      <p:sp>
        <p:nvSpPr>
          <p:cNvPr id="10" name="Take 10"/>
          <p:cNvSpPr txBox="1"/>
          <p:nvPr/>
        </p:nvSpPr>
        <p:spPr>
          <a:xfrm>
            <a:off x="548640" y="5660136"/>
            <a:ext cx="224028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dirty="0">
                <a:solidFill>
                  <a:srgbClr val="5B6B70"/>
                </a:solidFill>
                <a:latin typeface="Cambria"/>
                <a:cs typeface="Cambria"/>
              </a:rPr>
              <a:t>CH1 is blind</a:t>
            </a:r>
          </a:p>
        </p:txBody>
      </p:sp>
      <p:sp>
        <p:nvSpPr>
          <p:cNvPr id="11" name="Take label 11"/>
          <p:cNvSpPr txBox="1"/>
          <p:nvPr/>
        </p:nvSpPr>
        <p:spPr>
          <a:xfrm>
            <a:off x="2834640" y="5660136"/>
            <a:ext cx="352044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dirty="0">
                <a:solidFill>
                  <a:srgbClr val="1B2A2F"/>
                </a:solidFill>
                <a:latin typeface="Calibri"/>
                <a:cs typeface="Calibri"/>
              </a:rPr>
              <a:t>ignoring cost and coverage costs orders of magnitude</a:t>
            </a:r>
          </a:p>
        </p:txBody>
      </p:sp>
      <p:pic>
        <p:nvPicPr>
          <p:cNvPr id="12" name="Chart RE" descr="Average deviation with and without redundancy elimination per heuristic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691640"/>
            <a:ext cx="5029200" cy="350247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1" i="0" dirty="0">
                <a:solidFill>
                  <a:srgbClr val="1B2A2F"/>
                </a:solidFill>
                <a:latin typeface="Cambria"/>
                <a:cs typeface="Cambria"/>
              </a:rPr>
              <a:t>Neighbourhood search closes most of the gap</a:t>
            </a:r>
          </a:p>
        </p:txBody>
      </p:sp>
      <p:sp>
        <p:nvSpPr>
          <p:cNvPr id="4" name="Subtitle 4"/>
          <p:cNvSpPr txBox="1"/>
          <p:nvPr/>
        </p:nvSpPr>
        <p:spPr>
          <a:xfrm>
            <a:off x="548640" y="1115568"/>
            <a:ext cx="110642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dirty="0">
                <a:solidFill>
                  <a:srgbClr val="5B6B70"/>
                </a:solidFill>
                <a:latin typeface="Calibri"/>
                <a:cs typeface="Calibri"/>
              </a:rPr>
              <a:t>Compound heuristic: construction, then RE, then drop-and-repair search. Deviation from the best solution.</a:t>
            </a:r>
          </a:p>
        </p:txBody>
      </p:sp>
      <p:pic>
        <p:nvPicPr>
          <p:cNvPr id="5" name="Chart stages" descr="Average deviation after each stage for CH1, CH2 and CH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1640"/>
            <a:ext cx="6400800" cy="3931920"/>
          </a:xfrm>
          <a:prstGeom prst="rect">
            <a:avLst/>
          </a:prstGeom>
        </p:spPr>
      </p:pic>
      <p:sp>
        <p:nvSpPr>
          <p:cNvPr id="6" name="Card 6"/>
          <p:cNvSpPr txBox="1"/>
          <p:nvPr/>
        </p:nvSpPr>
        <p:spPr>
          <a:xfrm>
            <a:off x="7315200" y="1691640"/>
            <a:ext cx="4297680" cy="1051560"/>
          </a:xfrm>
          <a:prstGeom prst="roundRect">
            <a:avLst>
              <a:gd name="adj" fmla="val 8000"/>
            </a:avLst>
          </a:prstGeom>
          <a:solidFill>
            <a:srgbClr val="EEF4F5"/>
          </a:solidFill>
          <a:ln>
            <a:noFill/>
          </a:ln>
        </p:spPr>
        <p:txBody>
          <a:bodyPr wrap="square" lIns="109728" tIns="109728" rIns="109728" bIns="109728" anchor="t">
            <a:noAutofit/>
          </a:bodyPr>
          <a:lstStyle/>
          <a:p>
            <a:endParaRPr lang="en-US"/>
          </a:p>
        </p:txBody>
      </p:sp>
      <p:sp>
        <p:nvSpPr>
          <p:cNvPr id="7" name="Card big 7"/>
          <p:cNvSpPr txBox="1"/>
          <p:nvPr/>
        </p:nvSpPr>
        <p:spPr>
          <a:xfrm>
            <a:off x="7498080" y="1746504"/>
            <a:ext cx="393192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dirty="0">
                <a:solidFill>
                  <a:srgbClr val="1F6F78"/>
                </a:solidFill>
                <a:latin typeface="Cambria"/>
                <a:cs typeface="Cambria"/>
              </a:rPr>
              <a:t>2.9 %</a:t>
            </a:r>
          </a:p>
        </p:txBody>
      </p:sp>
      <p:sp>
        <p:nvSpPr>
          <p:cNvPr id="8" name="Card label 8"/>
          <p:cNvSpPr txBox="1"/>
          <p:nvPr/>
        </p:nvSpPr>
        <p:spPr>
          <a:xfrm>
            <a:off x="7498080" y="2240280"/>
            <a:ext cx="39319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dirty="0">
                <a:solidFill>
                  <a:srgbClr val="1B2A2F"/>
                </a:solidFill>
                <a:latin typeface="Calibri"/>
                <a:cs typeface="Calibri"/>
              </a:rPr>
              <a:t>CH3 + RE + best-improvement search: the best average result</a:t>
            </a:r>
          </a:p>
        </p:txBody>
      </p:sp>
      <p:sp>
        <p:nvSpPr>
          <p:cNvPr id="9" name="Card 9"/>
          <p:cNvSpPr txBox="1"/>
          <p:nvPr/>
        </p:nvSpPr>
        <p:spPr>
          <a:xfrm>
            <a:off x="7315200" y="2880360"/>
            <a:ext cx="4297680" cy="1051560"/>
          </a:xfrm>
          <a:prstGeom prst="roundRect">
            <a:avLst>
              <a:gd name="adj" fmla="val 8000"/>
            </a:avLst>
          </a:prstGeom>
          <a:solidFill>
            <a:srgbClr val="EEF4F5"/>
          </a:solidFill>
          <a:ln>
            <a:noFill/>
          </a:ln>
        </p:spPr>
        <p:txBody>
          <a:bodyPr wrap="square" lIns="109728" tIns="109728" rIns="109728" bIns="109728" anchor="t">
            <a:noAutofit/>
          </a:bodyPr>
          <a:lstStyle/>
          <a:p>
            <a:endParaRPr lang="en-US"/>
          </a:p>
        </p:txBody>
      </p:sp>
      <p:sp>
        <p:nvSpPr>
          <p:cNvPr id="10" name="Card big 10"/>
          <p:cNvSpPr txBox="1"/>
          <p:nvPr/>
        </p:nvSpPr>
        <p:spPr>
          <a:xfrm>
            <a:off x="7498080" y="2935224"/>
            <a:ext cx="393192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dirty="0">
                <a:solidFill>
                  <a:srgbClr val="E8873A"/>
                </a:solidFill>
                <a:latin typeface="Cambria"/>
                <a:cs typeface="Cambria"/>
              </a:rPr>
              <a:t>1756 % → 3.7 %</a:t>
            </a:r>
          </a:p>
        </p:txBody>
      </p:sp>
      <p:sp>
        <p:nvSpPr>
          <p:cNvPr id="11" name="Card label 11"/>
          <p:cNvSpPr txBox="1"/>
          <p:nvPr/>
        </p:nvSpPr>
        <p:spPr>
          <a:xfrm>
            <a:off x="7498080" y="3429000"/>
            <a:ext cx="39319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dirty="0">
                <a:solidFill>
                  <a:srgbClr val="1B2A2F"/>
                </a:solidFill>
                <a:latin typeface="Calibri"/>
                <a:cs typeface="Calibri"/>
              </a:rPr>
              <a:t>even the blind CH1 start is rescued by the same search</a:t>
            </a:r>
          </a:p>
        </p:txBody>
      </p:sp>
      <p:sp>
        <p:nvSpPr>
          <p:cNvPr id="12" name="Card 12"/>
          <p:cNvSpPr txBox="1"/>
          <p:nvPr/>
        </p:nvSpPr>
        <p:spPr>
          <a:xfrm>
            <a:off x="7315200" y="4069080"/>
            <a:ext cx="4297680" cy="1051560"/>
          </a:xfrm>
          <a:prstGeom prst="roundRect">
            <a:avLst>
              <a:gd name="adj" fmla="val 8000"/>
            </a:avLst>
          </a:prstGeom>
          <a:solidFill>
            <a:srgbClr val="EEF4F5"/>
          </a:solidFill>
          <a:ln>
            <a:noFill/>
          </a:ln>
        </p:spPr>
        <p:txBody>
          <a:bodyPr wrap="square" lIns="109728" tIns="109728" rIns="109728" bIns="109728" anchor="t">
            <a:noAutofit/>
          </a:bodyPr>
          <a:lstStyle/>
          <a:p>
            <a:endParaRPr lang="en-US"/>
          </a:p>
        </p:txBody>
      </p:sp>
      <p:sp>
        <p:nvSpPr>
          <p:cNvPr id="13" name="Card big 13"/>
          <p:cNvSpPr txBox="1"/>
          <p:nvPr/>
        </p:nvSpPr>
        <p:spPr>
          <a:xfrm>
            <a:off x="7498080" y="4123944"/>
            <a:ext cx="393192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dirty="0">
                <a:solidFill>
                  <a:srgbClr val="1F6F78"/>
                </a:solidFill>
                <a:latin typeface="Cambria"/>
                <a:cs typeface="Cambria"/>
              </a:rPr>
              <a:t>3 vs 32 moves</a:t>
            </a:r>
          </a:p>
        </p:txBody>
      </p:sp>
      <p:sp>
        <p:nvSpPr>
          <p:cNvPr id="14" name="Card label 14"/>
          <p:cNvSpPr txBox="1"/>
          <p:nvPr/>
        </p:nvSpPr>
        <p:spPr>
          <a:xfrm>
            <a:off x="7498080" y="4617720"/>
            <a:ext cx="39319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dirty="0">
                <a:solidFill>
                  <a:srgbClr val="1B2A2F"/>
                </a:solidFill>
                <a:latin typeface="Calibri"/>
                <a:cs typeface="Calibri"/>
              </a:rPr>
              <a:t>CH3 needs far fewer improving moves than CH1 – better start, less search</a:t>
            </a:r>
          </a:p>
        </p:txBody>
      </p:sp>
      <p:sp>
        <p:nvSpPr>
          <p:cNvPr id="15" name="Takeaway 15"/>
          <p:cNvSpPr txBox="1"/>
          <p:nvPr/>
        </p:nvSpPr>
        <p:spPr>
          <a:xfrm>
            <a:off x="548640" y="5532120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0F3A40"/>
          </a:solidFill>
          <a:ln>
            <a:noFill/>
          </a:ln>
        </p:spPr>
        <p:txBody>
          <a:bodyPr wrap="square" lIns="228600" tIns="228600" rIns="228600" bIns="22860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dirty="0">
                <a:solidFill>
                  <a:srgbClr val="FFFFFF"/>
                </a:solidFill>
                <a:latin typeface="Calibri"/>
                <a:cs typeface="Calibri"/>
              </a:rPr>
              <a:t>Takeaway  </a:t>
            </a:r>
            <a:r>
              <a:rPr lang="en-US" sz="1500" b="0" i="0" dirty="0">
                <a:solidFill>
                  <a:srgbClr val="FFFFFF"/>
                </a:solidFill>
                <a:latin typeface="Calibri"/>
                <a:cs typeface="Calibri"/>
              </a:rPr>
              <a:t>The best cost is reached on only a few of the 42 instances (at most 3 per stage), and no heuristic beat the best solution. What is left, a few percent, is what constructive heuristics plus a simple local search cannot close – the case for stronger metaheuristics.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CP">
  <a:themeElements>
    <a:clrScheme name="SCP">
      <a:dk1>
        <a:srgbClr val="1B2A2F"/>
      </a:dk1>
      <a:lt1>
        <a:srgbClr val="FFFFFF"/>
      </a:lt1>
      <a:dk2>
        <a:srgbClr val="0F3A40"/>
      </a:dk2>
      <a:lt2>
        <a:srgbClr val="EEF4F5"/>
      </a:lt2>
      <a:accent1>
        <a:srgbClr val="1F6F78"/>
      </a:accent1>
      <a:accent2>
        <a:srgbClr val="E8873A"/>
      </a:accent2>
      <a:accent3>
        <a:srgbClr val="9AA0A6"/>
      </a:accent3>
      <a:accent4>
        <a:srgbClr val="17505A"/>
      </a:accent4>
      <a:accent5>
        <a:srgbClr val="BFD8DB"/>
      </a:accent5>
      <a:accent6>
        <a:srgbClr val="5B6B70"/>
      </a:accent6>
      <a:hlink>
        <a:srgbClr val="1F6F78"/>
      </a:hlink>
      <a:folHlink>
        <a:srgbClr val="5B6B70"/>
      </a:folHlink>
    </a:clrScheme>
    <a:fontScheme name="SCP">
      <a:majorFont>
        <a:latin typeface="Cambria"/>
        <a:ea typeface=""/>
        <a:cs typeface=""/>
      </a:majorFont>
      <a:minorFont>
        <a:latin typeface="Calibri"/>
        <a:ea typeface=""/>
        <a:cs typeface=""/>
      </a:minorFont>
    </a:fontScheme>
    <a:fmtScheme name="SCP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Office PowerPoint</Application>
  <Slides>5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Constructive heuristics for the Set Covering Problem</dc:title>
  <dc:creator/>
</cp:coreProperties>
</file>