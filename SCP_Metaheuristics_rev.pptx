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A8DA5A-9CA7-484F-917F-B6878C389FCF}" type="datetimeFigureOut">
              <a:rPr lang="pt-PT" smtClean="0"/>
              <a:t>15/10/2026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8779B4-5C80-4CFB-8647-61EF58499D3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93493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79B4-5C80-4CFB-8647-61EF58499D37}" type="slidenum">
              <a:rPr lang="pt-PT" smtClean="0"/>
              <a:t>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161150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1800">
          <a:solidFill>
            <a:schemeClr val="tx1"/>
          </a:solidFill>
          <a:latin typeface="+mn-lt"/>
        </a:defRPr>
      </a:lvl1pPr>
    </p:titleStyle>
    <p:bodyStyle>
      <a:lvl1pPr>
        <a:defRPr sz="1800">
          <a:solidFill>
            <a:schemeClr val="tx1"/>
          </a:solidFill>
          <a:latin typeface="+mn-lt"/>
        </a:defRPr>
      </a:lvl1pPr>
    </p:bodyStyle>
    <p:otherStyle>
      <a:lvl1pPr>
        <a:defRPr sz="1800">
          <a:solidFill>
            <a:schemeClr val="tx1"/>
          </a:solidFill>
          <a:latin typeface="+mn-lt"/>
        </a:defRPr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640080" y="868680"/>
            <a:ext cx="6858000" cy="2194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dirty="0">
                <a:solidFill>
                  <a:srgbClr val="FFFFFF"/>
                </a:solidFill>
                <a:latin typeface="Cambria"/>
                <a:cs typeface="Cambria"/>
              </a:rPr>
              <a:t>Neighbourhood-based metaheuristics for the Set Covering Problem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640080" y="3200400"/>
            <a:ext cx="66751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BFD8DB"/>
                </a:solidFill>
                <a:latin typeface="Calibri"/>
                <a:cs typeface="Calibri"/>
              </a:rPr>
              <a:t>Assignment 3  ·  Heuristic Optimization</a:t>
            </a:r>
          </a:p>
        </p:txBody>
      </p:sp>
      <p:sp>
        <p:nvSpPr>
          <p:cNvPr id="5" name="Authors 5"/>
          <p:cNvSpPr txBox="1"/>
          <p:nvPr/>
        </p:nvSpPr>
        <p:spPr>
          <a:xfrm>
            <a:off x="640080" y="3794760"/>
            <a:ext cx="64008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BFD8DB"/>
                </a:solidFill>
                <a:latin typeface="Calibri"/>
                <a:cs typeface="Calibri"/>
              </a:rPr>
              <a:t>Group 11: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BFD8DB"/>
                </a:solidFill>
                <a:latin typeface="Calibri"/>
                <a:cs typeface="Calibri"/>
              </a:rPr>
              <a:t>Artur Santoalha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BFD8DB"/>
                </a:solidFill>
                <a:latin typeface="Calibri"/>
                <a:cs typeface="Calibri"/>
              </a:rPr>
              <a:t>Kirill Savin</a:t>
            </a:r>
          </a:p>
        </p:txBody>
      </p:sp>
      <p:sp>
        <p:nvSpPr>
          <p:cNvPr id="6" name="Task 6"/>
          <p:cNvSpPr txBox="1"/>
          <p:nvPr/>
        </p:nvSpPr>
        <p:spPr>
          <a:xfrm>
            <a:off x="7863840" y="868680"/>
            <a:ext cx="3749040" cy="3108960"/>
          </a:xfrm>
          <a:prstGeom prst="roundRect">
            <a:avLst>
              <a:gd name="adj" fmla="val 6000"/>
            </a:avLst>
          </a:prstGeom>
          <a:solidFill>
            <a:srgbClr val="17505A"/>
          </a:solidFill>
          <a:ln>
            <a:noFill/>
          </a:ln>
        </p:spPr>
        <p:txBody>
          <a:bodyPr wrap="square" lIns="256032" tIns="256032" rIns="256032" bIns="256032" anchor="t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300" b="1" i="0" dirty="0">
                <a:solidFill>
                  <a:srgbClr val="E8873A"/>
                </a:solidFill>
                <a:latin typeface="Calibri"/>
                <a:cs typeface="Calibri"/>
              </a:rPr>
              <a:t>THE TASK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800" b="0" i="0" dirty="0">
                <a:solidFill>
                  <a:srgbClr val="FFFFFF"/>
                </a:solidFill>
                <a:latin typeface="Calibri"/>
                <a:cs typeface="Calibri"/>
              </a:rPr>
              <a:t>Design simulated annealing and tabu search for the SCP and show how their parameters and building blocks change quality and effort.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b="1" i="0" dirty="0">
                <a:solidFill>
                  <a:srgbClr val="BFD8DB"/>
                </a:solidFill>
                <a:latin typeface="Cambria"/>
                <a:cs typeface="Cambria"/>
              </a:rPr>
              <a:t>CH3 + RE  →  SA  |  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BFD8DB"/>
                </a:solidFill>
                <a:latin typeface="Calibri"/>
                <a:cs typeface="Calibri"/>
              </a:rPr>
              <a:t>vs. the local search of Assignment 2</a:t>
            </a:r>
          </a:p>
        </p:txBody>
      </p:sp>
      <p:sp>
        <p:nvSpPr>
          <p:cNvPr id="7" name="Stat 7"/>
          <p:cNvSpPr txBox="1"/>
          <p:nvPr/>
        </p:nvSpPr>
        <p:spPr>
          <a:xfrm>
            <a:off x="350520" y="4983480"/>
            <a:ext cx="170688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dirty="0">
                <a:solidFill>
                  <a:srgbClr val="E8873A"/>
                </a:solidFill>
                <a:latin typeface="Cambria"/>
                <a:cs typeface="Cambria"/>
              </a:rPr>
              <a:t>1.04 %</a:t>
            </a:r>
          </a:p>
        </p:txBody>
      </p:sp>
      <p:sp>
        <p:nvSpPr>
          <p:cNvPr id="8" name="Stat label 8"/>
          <p:cNvSpPr txBox="1"/>
          <p:nvPr/>
        </p:nvSpPr>
        <p:spPr>
          <a:xfrm>
            <a:off x="2103120" y="4983480"/>
            <a:ext cx="21488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FFFFFF"/>
                </a:solidFill>
                <a:latin typeface="Calibri"/>
                <a:cs typeface="Calibri"/>
              </a:rPr>
              <a:t>TS deviation from the best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FFFFFF"/>
                </a:solidFill>
                <a:latin typeface="Calibri"/>
                <a:cs typeface="Calibri"/>
              </a:rPr>
              <a:t>known (SA 1.34 %, local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FFFFFF"/>
                </a:solidFill>
                <a:latin typeface="Calibri"/>
                <a:cs typeface="Calibri"/>
              </a:rPr>
              <a:t>search 2.7–2.9 %)</a:t>
            </a:r>
          </a:p>
        </p:txBody>
      </p:sp>
      <p:sp>
        <p:nvSpPr>
          <p:cNvPr id="9" name="Stat 9"/>
          <p:cNvSpPr txBox="1"/>
          <p:nvPr/>
        </p:nvSpPr>
        <p:spPr>
          <a:xfrm>
            <a:off x="4434840" y="4983480"/>
            <a:ext cx="141732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dirty="0">
                <a:solidFill>
                  <a:srgbClr val="E8873A"/>
                </a:solidFill>
                <a:latin typeface="Cambria"/>
                <a:cs typeface="Cambria"/>
              </a:rPr>
              <a:t>9,548</a:t>
            </a:r>
          </a:p>
        </p:txBody>
      </p:sp>
      <p:sp>
        <p:nvSpPr>
          <p:cNvPr id="10" name="Stat label 10"/>
          <p:cNvSpPr txBox="1"/>
          <p:nvPr/>
        </p:nvSpPr>
        <p:spPr>
          <a:xfrm>
            <a:off x="5897880" y="4983480"/>
            <a:ext cx="21488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FFFFFF"/>
                </a:solidFill>
                <a:latin typeface="Calibri"/>
                <a:cs typeface="Calibri"/>
              </a:rPr>
              <a:t>runs in 7 experiments,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FFFFFF"/>
                </a:solidFill>
                <a:latin typeface="Calibri"/>
                <a:cs typeface="Calibri"/>
              </a:rPr>
              <a:t>tuned on 14 instances,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FFFFFF"/>
                </a:solidFill>
                <a:latin typeface="Calibri"/>
                <a:cs typeface="Calibri"/>
              </a:rPr>
              <a:t>final test on all 42</a:t>
            </a:r>
          </a:p>
        </p:txBody>
      </p:sp>
      <p:sp>
        <p:nvSpPr>
          <p:cNvPr id="11" name="Stat 11"/>
          <p:cNvSpPr txBox="1"/>
          <p:nvPr/>
        </p:nvSpPr>
        <p:spPr>
          <a:xfrm>
            <a:off x="8229600" y="4983480"/>
            <a:ext cx="141732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dirty="0">
                <a:solidFill>
                  <a:srgbClr val="E8873A"/>
                </a:solidFill>
                <a:latin typeface="Cambria"/>
                <a:cs typeface="Cambria"/>
              </a:rPr>
              <a:t>2</a:t>
            </a:r>
          </a:p>
        </p:txBody>
      </p:sp>
      <p:sp>
        <p:nvSpPr>
          <p:cNvPr id="12" name="Stat label 12"/>
          <p:cNvSpPr txBox="1"/>
          <p:nvPr/>
        </p:nvSpPr>
        <p:spPr>
          <a:xfrm>
            <a:off x="9692640" y="4983480"/>
            <a:ext cx="21488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FFFFFF"/>
                </a:solidFill>
                <a:latin typeface="Calibri"/>
                <a:cs typeface="Calibri"/>
              </a:rPr>
              <a:t>metaheuristics on one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FFFFFF"/>
                </a:solidFill>
                <a:latin typeface="Calibri"/>
                <a:cs typeface="Calibri"/>
              </a:rPr>
              <a:t>neighbourhood, RE after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FFFFFF"/>
                </a:solidFill>
                <a:latin typeface="Calibri"/>
                <a:cs typeface="Calibri"/>
              </a:rPr>
              <a:t>every move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1B2A2F"/>
                </a:solidFill>
                <a:latin typeface="Cambria"/>
                <a:cs typeface="Cambria"/>
              </a:rPr>
              <a:t>Design: two metaheuristics, one neighbourhood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5B6B70"/>
                </a:solidFill>
                <a:latin typeface="Calibri"/>
                <a:cs typeface="Calibri"/>
              </a:rPr>
              <a:t>Same start, same move, same budget – only the way of escaping local optima differs.</a:t>
            </a:r>
          </a:p>
        </p:txBody>
      </p:sp>
      <p:sp>
        <p:nvSpPr>
          <p:cNvPr id="5" name="Card 5"/>
          <p:cNvSpPr txBox="1"/>
          <p:nvPr/>
        </p:nvSpPr>
        <p:spPr>
          <a:xfrm>
            <a:off x="548640" y="1691640"/>
            <a:ext cx="3291840" cy="361188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82880" tIns="182880" rIns="182880" bIns="182880" anchor="t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700" b="1" i="0" dirty="0">
                <a:solidFill>
                  <a:srgbClr val="1B2A2F"/>
                </a:solidFill>
                <a:latin typeface="Cambria"/>
                <a:cs typeface="Cambria"/>
              </a:rPr>
              <a:t>Common to both</a:t>
            </a:r>
          </a:p>
          <a:p>
            <a:pPr marL="228600" indent="-228600" algn="l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Start: CH3 (Look at every candidate set that still covers something new → Add the one with the lowest cost ÷ newly covered elements) + RE (same seed → identical start)</a:t>
            </a:r>
          </a:p>
          <a:p>
            <a:pPr marL="228600" indent="-228600" algn="l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Move: drop one selected set, repair it greedily, then RE after every move</a:t>
            </a:r>
          </a:p>
          <a:p>
            <a:pPr marL="228600" indent="-228600" algn="l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Cost: incremental update, tried moves are undone from a log</a:t>
            </a:r>
          </a:p>
          <a:p>
            <a:pPr marL="228600" indent="-228600" algn="l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Budget: 3000 evaluated neighbours (about 0.25 s)</a:t>
            </a:r>
          </a:p>
          <a:p>
            <a:pPr marL="228600" indent="-228600" algn="l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Result: best cover found</a:t>
            </a:r>
          </a:p>
        </p:txBody>
      </p:sp>
      <p:sp>
        <p:nvSpPr>
          <p:cNvPr id="6" name="Card 6"/>
          <p:cNvSpPr txBox="1"/>
          <p:nvPr/>
        </p:nvSpPr>
        <p:spPr>
          <a:xfrm>
            <a:off x="4069080" y="1691640"/>
            <a:ext cx="7543800" cy="1737360"/>
          </a:xfrm>
          <a:prstGeom prst="roundRect">
            <a:avLst>
              <a:gd name="adj" fmla="val 5000"/>
            </a:avLst>
          </a:prstGeom>
          <a:solidFill>
            <a:srgbClr val="EEF4F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7" name="Badge 7"/>
          <p:cNvSpPr txBox="1"/>
          <p:nvPr/>
        </p:nvSpPr>
        <p:spPr>
          <a:xfrm>
            <a:off x="4297680" y="1828800"/>
            <a:ext cx="731520" cy="384048"/>
          </a:xfrm>
          <a:prstGeom prst="roundRect">
            <a:avLst>
              <a:gd name="adj" fmla="val 30000"/>
            </a:avLst>
          </a:prstGeom>
          <a:solidFill>
            <a:srgbClr val="E8873A"/>
          </a:solidFill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FFFFFF"/>
                </a:solidFill>
                <a:latin typeface="Calibri"/>
                <a:cs typeface="Calibri"/>
              </a:rPr>
              <a:t>SA</a:t>
            </a:r>
          </a:p>
        </p:txBody>
      </p:sp>
      <p:sp>
        <p:nvSpPr>
          <p:cNvPr id="8" name="Card head 8"/>
          <p:cNvSpPr txBox="1"/>
          <p:nvPr/>
        </p:nvSpPr>
        <p:spPr>
          <a:xfrm>
            <a:off x="5166360" y="1801368"/>
            <a:ext cx="32004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1B2A2F"/>
                </a:solidFill>
                <a:latin typeface="Cambria"/>
                <a:cs typeface="Cambria"/>
              </a:rPr>
              <a:t>Simulated annealing</a:t>
            </a:r>
          </a:p>
        </p:txBody>
      </p:sp>
      <p:sp>
        <p:nvSpPr>
          <p:cNvPr id="9" name="Params 9"/>
          <p:cNvSpPr txBox="1"/>
          <p:nvPr/>
        </p:nvSpPr>
        <p:spPr>
          <a:xfrm>
            <a:off x="6660508" y="1801368"/>
            <a:ext cx="4952372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dirty="0">
                <a:solidFill>
                  <a:srgbClr val="5B6B70"/>
                </a:solidFill>
                <a:latin typeface="Calibri"/>
                <a:cs typeface="Calibri"/>
              </a:rPr>
              <a:t>p_0 - Initial probability of accepting an average worsening move in SA.</a:t>
            </a:r>
          </a:p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dirty="0">
                <a:solidFill>
                  <a:srgbClr val="5B6B70"/>
                </a:solidFill>
                <a:latin typeface="Calibri"/>
                <a:cs typeface="Calibri"/>
              </a:rPr>
              <a:t>alpha - Cooling multiplier in SA.</a:t>
            </a:r>
          </a:p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dirty="0">
                <a:solidFill>
                  <a:srgbClr val="5B6B70"/>
                </a:solidFill>
                <a:latin typeface="Calibri"/>
                <a:cs typeface="Calibri"/>
              </a:rPr>
              <a:t>L - Number of evaluations between cooling steps</a:t>
            </a:r>
            <a:r>
              <a:rPr lang="en-US" sz="1200" b="0" i="1" dirty="0">
                <a:solidFill>
                  <a:srgbClr val="5B6B70"/>
                </a:solidFill>
                <a:latin typeface="Calibri"/>
                <a:cs typeface="Calibri"/>
              </a:rPr>
              <a:t>.</a:t>
            </a:r>
          </a:p>
        </p:txBody>
      </p:sp>
      <p:sp>
        <p:nvSpPr>
          <p:cNvPr id="10" name="Card body 10"/>
          <p:cNvSpPr txBox="1"/>
          <p:nvPr/>
        </p:nvSpPr>
        <p:spPr>
          <a:xfrm>
            <a:off x="4297680" y="2313432"/>
            <a:ext cx="713232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228600" algn="l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lang="en-US" sz="1300" dirty="0">
                <a:solidFill>
                  <a:srgbClr val="1B2A2F"/>
                </a:solidFill>
                <a:latin typeface="Calibri"/>
                <a:cs typeface="Calibri"/>
              </a:rPr>
              <a:t>E</a:t>
            </a: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xplores one randomly selected neighbor at a time and may accept a worse solution with a probability that decreases as the temperature falls.</a:t>
            </a:r>
          </a:p>
          <a:p>
            <a:pPr marL="685800" lvl="1" indent="-228600">
              <a:spcAft>
                <a:spcPts val="2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Random neighbour, accepted with exp(−Δ/T) if worse</a:t>
            </a:r>
          </a:p>
          <a:p>
            <a:pPr marL="685800" lvl="1" indent="-228600">
              <a:spcAft>
                <a:spcPts val="2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T₀ calibrated: an average worsening move is accepted with probability p₀</a:t>
            </a:r>
          </a:p>
          <a:p>
            <a:pPr marL="685800" lvl="1" indent="-228600">
              <a:spcAft>
                <a:spcPts val="2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Geometric cooling T ← αT every L evaluations</a:t>
            </a:r>
          </a:p>
        </p:txBody>
      </p:sp>
      <p:sp>
        <p:nvSpPr>
          <p:cNvPr id="11" name="Card 11"/>
          <p:cNvSpPr txBox="1"/>
          <p:nvPr/>
        </p:nvSpPr>
        <p:spPr>
          <a:xfrm>
            <a:off x="4069080" y="3520440"/>
            <a:ext cx="7543800" cy="1737360"/>
          </a:xfrm>
          <a:prstGeom prst="roundRect">
            <a:avLst>
              <a:gd name="adj" fmla="val 5000"/>
            </a:avLst>
          </a:prstGeom>
          <a:solidFill>
            <a:srgbClr val="EEF4F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12" name="Badge 12"/>
          <p:cNvSpPr txBox="1"/>
          <p:nvPr/>
        </p:nvSpPr>
        <p:spPr>
          <a:xfrm>
            <a:off x="4297680" y="3657600"/>
            <a:ext cx="731520" cy="384048"/>
          </a:xfrm>
          <a:prstGeom prst="roundRect">
            <a:avLst>
              <a:gd name="adj" fmla="val 30000"/>
            </a:avLst>
          </a:prstGeom>
          <a:solidFill>
            <a:srgbClr val="1F6F78"/>
          </a:solidFill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FFFFFF"/>
                </a:solidFill>
                <a:latin typeface="Calibri"/>
                <a:cs typeface="Calibri"/>
              </a:rPr>
              <a:t>TS</a:t>
            </a:r>
          </a:p>
        </p:txBody>
      </p:sp>
      <p:sp>
        <p:nvSpPr>
          <p:cNvPr id="13" name="Card head 13"/>
          <p:cNvSpPr txBox="1"/>
          <p:nvPr/>
        </p:nvSpPr>
        <p:spPr>
          <a:xfrm>
            <a:off x="5166360" y="3630168"/>
            <a:ext cx="32004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1B2A2F"/>
                </a:solidFill>
                <a:latin typeface="Cambria"/>
                <a:cs typeface="Cambria"/>
              </a:rPr>
              <a:t>Tabu search</a:t>
            </a:r>
          </a:p>
        </p:txBody>
      </p:sp>
      <p:sp>
        <p:nvSpPr>
          <p:cNvPr id="14" name="Params 14"/>
          <p:cNvSpPr txBox="1"/>
          <p:nvPr/>
        </p:nvSpPr>
        <p:spPr>
          <a:xfrm>
            <a:off x="6660508" y="3630168"/>
            <a:ext cx="4815212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i="1" dirty="0">
                <a:solidFill>
                  <a:srgbClr val="5B6B70"/>
                </a:solidFill>
                <a:latin typeface="Calibri"/>
                <a:cs typeface="Calibri"/>
              </a:rPr>
              <a:t>t</a:t>
            </a:r>
            <a:r>
              <a:rPr lang="en-US" sz="1000" b="0" i="1" dirty="0">
                <a:solidFill>
                  <a:srgbClr val="5B6B70"/>
                </a:solidFill>
                <a:latin typeface="Calibri"/>
                <a:cs typeface="Calibri"/>
              </a:rPr>
              <a:t>enure - How long a tabu restriction remains active.</a:t>
            </a:r>
          </a:p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i="1" dirty="0">
                <a:solidFill>
                  <a:srgbClr val="5B6B70"/>
                </a:solidFill>
                <a:latin typeface="Calibri"/>
                <a:cs typeface="Calibri"/>
              </a:rPr>
              <a:t>k - </a:t>
            </a:r>
            <a:r>
              <a:rPr lang="en-US" sz="1000" b="0" i="1" dirty="0">
                <a:solidFill>
                  <a:srgbClr val="5B6B70"/>
                </a:solidFill>
                <a:latin typeface="Calibri"/>
                <a:cs typeface="Calibri"/>
              </a:rPr>
              <a:t>Number of candidate neighbors sampled in each TS iteration.</a:t>
            </a:r>
          </a:p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dirty="0">
                <a:solidFill>
                  <a:srgbClr val="5B6B70"/>
                </a:solidFill>
                <a:latin typeface="Calibri"/>
                <a:cs typeface="Calibri"/>
              </a:rPr>
              <a:t>lambda - Strength of the long-term frequency penalty in TS</a:t>
            </a:r>
            <a:r>
              <a:rPr lang="en-US" sz="1200" b="0" i="1" dirty="0">
                <a:solidFill>
                  <a:srgbClr val="5B6B70"/>
                </a:solidFill>
                <a:latin typeface="Calibri"/>
                <a:cs typeface="Calibri"/>
              </a:rPr>
              <a:t>.</a:t>
            </a:r>
          </a:p>
        </p:txBody>
      </p:sp>
      <p:sp>
        <p:nvSpPr>
          <p:cNvPr id="15" name="Card body 15"/>
          <p:cNvSpPr txBox="1"/>
          <p:nvPr/>
        </p:nvSpPr>
        <p:spPr>
          <a:xfrm>
            <a:off x="4297680" y="4142232"/>
            <a:ext cx="713232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228600" algn="l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lang="en-US" sz="1300" dirty="0">
                <a:solidFill>
                  <a:srgbClr val="1B2A2F"/>
                </a:solidFill>
                <a:latin typeface="Calibri"/>
                <a:cs typeface="Calibri"/>
              </a:rPr>
              <a:t>S</a:t>
            </a: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amples </a:t>
            </a:r>
            <a:r>
              <a:rPr lang="en-US" sz="1300" dirty="0">
                <a:solidFill>
                  <a:srgbClr val="1B2A2F"/>
                </a:solidFill>
                <a:latin typeface="Calibri"/>
                <a:cs typeface="Calibri"/>
              </a:rPr>
              <a:t>k </a:t>
            </a: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neighbors, chooses the best admissible one, and can move to a worse solution to escape a local optimum. Its tabu memory discourages cycling back to recent moves</a:t>
            </a:r>
          </a:p>
          <a:p>
            <a:pPr marL="685800" lvl="1" indent="-228600">
              <a:spcAft>
                <a:spcPts val="2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Sample k neighbours, take the best admissible one – even if worse</a:t>
            </a:r>
          </a:p>
          <a:p>
            <a:pPr marL="685800" lvl="1" indent="-228600">
              <a:spcAft>
                <a:spcPts val="2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Tabu: removed sets may not return, added sets may not be dropped for a tenure</a:t>
            </a:r>
          </a:p>
          <a:p>
            <a:pPr marL="685800" lvl="1" indent="-228600">
              <a:spcAft>
                <a:spcPts val="2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Aspiration; frequency-based long-term memory</a:t>
            </a:r>
          </a:p>
        </p:txBody>
      </p:sp>
      <p:sp>
        <p:nvSpPr>
          <p:cNvPr id="16" name="Note 16"/>
          <p:cNvSpPr txBox="1"/>
          <p:nvPr/>
        </p:nvSpPr>
        <p:spPr>
          <a:xfrm>
            <a:off x="548640" y="5468112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1F6F78"/>
          </a:solidFill>
          <a:ln>
            <a:noFill/>
          </a:ln>
        </p:spPr>
        <p:txBody>
          <a:bodyPr wrap="square" lIns="228600" tIns="228600" rIns="228600" bIns="22860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>Building blocks under test  </a:t>
            </a:r>
            <a:r>
              <a:rPr lang="en-US" sz="1500" b="0" i="0" dirty="0">
                <a:solidFill>
                  <a:srgbClr val="FFFFFF"/>
                </a:solidFill>
                <a:latin typeface="Calibri"/>
                <a:cs typeface="Calibri"/>
              </a:rPr>
              <a:t>RE after every move · randomised repair (GRASP-like restricted candidate list) · initial solution · aspiration · tabu attribute · dynamic tenure · long-term memory · computation budget.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1B2A2F"/>
                </a:solidFill>
                <a:latin typeface="Cambria"/>
                <a:cs typeface="Cambria"/>
              </a:rPr>
              <a:t>Experimental design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5B6B70"/>
                </a:solidFill>
                <a:latin typeface="Calibri"/>
                <a:cs typeface="Calibri"/>
              </a:rPr>
              <a:t>Full factorial grids for the parameters (tune the algorithms), one factor at a time for the building blocks (investigate their components), examination of computational effort, a confirmation step for promising changes and a final comparison of the methods.</a:t>
            </a:r>
          </a:p>
        </p:txBody>
      </p:sp>
      <p:graphicFrame>
        <p:nvGraphicFramePr>
          <p:cNvPr id="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9572560"/>
              </p:ext>
            </p:extLst>
          </p:nvPr>
        </p:nvGraphicFramePr>
        <p:xfrm>
          <a:off x="548640" y="1691640"/>
          <a:ext cx="11064240" cy="3200400"/>
        </p:xfrm>
        <a:graphic>
          <a:graphicData uri="http://schemas.openxmlformats.org/drawingml/2006/table">
            <a:tbl>
              <a:tblPr firstRow="1"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Study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Factors and levels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Instances · seeds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Runs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A  SA parameters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p₀ (6) × cooling α (3) × epoch L (4): 72 configurations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14 tuning · 3 seeds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3,024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B  TS parameters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tenure (6) × sub-neighbourhood k (5): 30 configurations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14 tuning · 3 seeds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1,260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  Building blocks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RE per move, repair randomisation, start, aspiration, tabu attribute, dynamic tenure, memory λ (+ RE at equal CPU)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14 tuning · 5 seeds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2,240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D  Budget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1000 – 30000 evaluations (SA with fixed and with scaled cooling, TS)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14 tuning · 3 seeds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504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E  Confirmation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promising changes of study C, tested on the held-out instances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28 held-out · 5 new seeds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840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F  Final comparison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TS, SA, FI, BI – sequential, clean CPU times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all 42 · 10 new seeds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1,680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Card 6"/>
          <p:cNvSpPr txBox="1"/>
          <p:nvPr/>
        </p:nvSpPr>
        <p:spPr>
          <a:xfrm>
            <a:off x="548640" y="507492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EEF4F5"/>
          </a:solidFill>
          <a:ln>
            <a:noFill/>
          </a:ln>
        </p:spPr>
        <p:txBody>
          <a:bodyPr wrap="square" lIns="164592" tIns="164592" rIns="164592" bIns="164592" anchor="t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500" b="1" i="0" dirty="0">
                <a:solidFill>
                  <a:srgbClr val="1F6F78"/>
                </a:solidFill>
                <a:latin typeface="Cambria"/>
                <a:cs typeface="Cambria"/>
              </a:rPr>
              <a:t>Measures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A2F"/>
                </a:solidFill>
                <a:latin typeface="Calibri"/>
                <a:cs typeface="Calibri"/>
              </a:rPr>
              <a:t>Effectiveness: % deviation from the best known solution. Efficiency: evaluated neighbours (budget), CPU time, anytime behaviour.</a:t>
            </a:r>
          </a:p>
        </p:txBody>
      </p:sp>
      <p:sp>
        <p:nvSpPr>
          <p:cNvPr id="7" name="Card 7"/>
          <p:cNvSpPr txBox="1"/>
          <p:nvPr/>
        </p:nvSpPr>
        <p:spPr>
          <a:xfrm>
            <a:off x="4343400" y="507492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EEF4F5"/>
          </a:solidFill>
          <a:ln>
            <a:noFill/>
          </a:ln>
        </p:spPr>
        <p:txBody>
          <a:bodyPr wrap="square" lIns="164592" tIns="164592" rIns="164592" bIns="164592" anchor="t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500" b="1" i="0" dirty="0">
                <a:solidFill>
                  <a:srgbClr val="1F6F78"/>
                </a:solidFill>
                <a:latin typeface="Cambria"/>
                <a:cs typeface="Cambria"/>
              </a:rPr>
              <a:t>Statistics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A2F"/>
                </a:solidFill>
                <a:latin typeface="Calibri"/>
                <a:cs typeface="Calibri"/>
              </a:rPr>
              <a:t>ANOVA with the instance as block (partial η²), Friedman test, Wilcoxon signed-rank with Holm correction on instance means; paired by the common start.</a:t>
            </a:r>
          </a:p>
        </p:txBody>
      </p:sp>
      <p:sp>
        <p:nvSpPr>
          <p:cNvPr id="8" name="Card 8"/>
          <p:cNvSpPr txBox="1"/>
          <p:nvPr/>
        </p:nvSpPr>
        <p:spPr>
          <a:xfrm>
            <a:off x="8138160" y="507492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EEF4F5"/>
          </a:solidFill>
          <a:ln>
            <a:noFill/>
          </a:ln>
        </p:spPr>
        <p:txBody>
          <a:bodyPr wrap="square" lIns="164592" tIns="164592" rIns="164592" bIns="164592" anchor="t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500" b="1" i="0" dirty="0">
                <a:solidFill>
                  <a:srgbClr val="1F6F78"/>
                </a:solidFill>
                <a:latin typeface="Cambria"/>
                <a:cs typeface="Cambria"/>
              </a:rPr>
              <a:t>Raw data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A2F"/>
                </a:solidFill>
                <a:latin typeface="Calibri"/>
                <a:cs typeface="Calibri"/>
              </a:rPr>
              <a:t>All 9,548 runs in the raw</a:t>
            </a:r>
            <a:r>
              <a:rPr lang="en-US" sz="1200" dirty="0">
                <a:solidFill>
                  <a:srgbClr val="1B2A2F"/>
                </a:solidFill>
                <a:latin typeface="Calibri"/>
                <a:cs typeface="Calibri"/>
              </a:rPr>
              <a:t> </a:t>
            </a:r>
            <a:r>
              <a:rPr lang="en-US" sz="1200" b="0" i="0" dirty="0">
                <a:solidFill>
                  <a:srgbClr val="1B2A2F"/>
                </a:solidFill>
                <a:latin typeface="Calibri"/>
                <a:cs typeface="Calibri"/>
              </a:rPr>
              <a:t>data (+ instance-level matrix of the final tests).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1B2A2F"/>
                </a:solidFill>
                <a:latin typeface="Cambria"/>
                <a:cs typeface="Cambria"/>
              </a:rPr>
              <a:t>What matters: the parameters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5B6B70"/>
                </a:solidFill>
                <a:latin typeface="Calibri"/>
                <a:cs typeface="Calibri"/>
              </a:rPr>
              <a:t>Average deviation [%] on the tuning instances (3 seeds per cell); darker = better.</a:t>
            </a:r>
          </a:p>
        </p:txBody>
      </p:sp>
      <p:pic>
        <p:nvPicPr>
          <p:cNvPr id="5" name="SA heat map" descr="SA deviation by initial acceptance probability and epoch lengt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5394960" cy="2743200"/>
          </a:xfrm>
          <a:prstGeom prst="rect">
            <a:avLst/>
          </a:prstGeom>
        </p:spPr>
      </p:pic>
      <p:pic>
        <p:nvPicPr>
          <p:cNvPr id="6" name="TS heat map" descr="TS deviation by tenure and sub-neighbourhood siz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00200"/>
            <a:ext cx="5394960" cy="2743200"/>
          </a:xfrm>
          <a:prstGeom prst="rect">
            <a:avLst/>
          </a:prstGeom>
        </p:spPr>
      </p:pic>
      <p:sp>
        <p:nvSpPr>
          <p:cNvPr id="7" name="Card 7"/>
          <p:cNvSpPr txBox="1"/>
          <p:nvPr/>
        </p:nvSpPr>
        <p:spPr>
          <a:xfrm>
            <a:off x="548640" y="4526280"/>
            <a:ext cx="5394960" cy="201168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64592" tIns="164592" rIns="164592" bIns="164592" anchor="t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500" b="1" i="0" dirty="0">
                <a:solidFill>
                  <a:srgbClr val="E8873A"/>
                </a:solidFill>
                <a:latin typeface="Cambria"/>
                <a:cs typeface="Cambria"/>
              </a:rPr>
              <a:t>SA: The initial acceptance setting has the greatest impact; starting cold performs best, while the remaining settings yield broadly similar results</a:t>
            </a:r>
          </a:p>
          <a:p>
            <a:pPr marL="228600" indent="-228600" algn="l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lang="en-US" sz="1200" b="0" i="0" dirty="0">
                <a:solidFill>
                  <a:srgbClr val="1B2A2F"/>
                </a:solidFill>
                <a:latin typeface="Calibri"/>
                <a:cs typeface="Calibri"/>
              </a:rPr>
              <a:t>p₀ has the largest effect (η²ₚ = 0.049); α alone is not significant (0.0005)</a:t>
            </a:r>
          </a:p>
          <a:p>
            <a:pPr marL="228600" indent="-228600" algn="l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lang="en-US" sz="1200" b="0" i="0" dirty="0">
                <a:solidFill>
                  <a:srgbClr val="1B2A2F"/>
                </a:solidFill>
                <a:latin typeface="Calibri"/>
                <a:cs typeface="Calibri"/>
              </a:rPr>
              <a:t>a hot start with slow cooling never cools down: p₀ = 0.3, α = 0.98, L = 200 gives 3.7 % vs. 1.27 % for the best (p₀ = 0.01, α = 0.95, L = 200)</a:t>
            </a:r>
          </a:p>
          <a:p>
            <a:pPr marL="228600" indent="-228600" algn="l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lang="en-US" sz="1200" b="0" i="0" dirty="0">
                <a:solidFill>
                  <a:srgbClr val="1B2A2F"/>
                </a:solidFill>
                <a:latin typeface="Calibri"/>
                <a:cs typeface="Calibri"/>
              </a:rPr>
              <a:t>the six best configurations are statistically tied; best acceptance rate 10–15 %</a:t>
            </a:r>
          </a:p>
        </p:txBody>
      </p:sp>
      <p:sp>
        <p:nvSpPr>
          <p:cNvPr id="8" name="Card 8"/>
          <p:cNvSpPr txBox="1"/>
          <p:nvPr/>
        </p:nvSpPr>
        <p:spPr>
          <a:xfrm>
            <a:off x="6217920" y="4526280"/>
            <a:ext cx="5394960" cy="201168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64592" tIns="164592" rIns="164592" bIns="164592" anchor="t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500" b="1" i="0" dirty="0">
                <a:solidFill>
                  <a:srgbClr val="1F6F78"/>
                </a:solidFill>
                <a:latin typeface="Cambria"/>
                <a:cs typeface="Cambria"/>
              </a:rPr>
              <a:t>TS: Both tenure and neighborhood sample size matter; a short tenure and k ≈ 20 appear to offer the best performance</a:t>
            </a:r>
          </a:p>
          <a:p>
            <a:pPr marL="228600" indent="-228600" algn="l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lang="en-US" sz="1200" b="0" i="0" dirty="0">
                <a:solidFill>
                  <a:srgbClr val="1B2A2F"/>
                </a:solidFill>
                <a:latin typeface="Calibri"/>
                <a:cs typeface="Calibri"/>
              </a:rPr>
              <a:t>tenure (η²ₚ = 0.33), k (0.22) and their interaction (0.18) all matter</a:t>
            </a:r>
          </a:p>
          <a:p>
            <a:pPr marL="228600" indent="-228600" algn="l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lang="en-US" sz="1200" b="0" i="0" dirty="0">
                <a:solidFill>
                  <a:srgbClr val="1B2A2F"/>
                </a:solidFill>
                <a:latin typeface="Calibri"/>
                <a:cs typeface="Calibri"/>
              </a:rPr>
              <a:t>tenure ≥ 10 freezes the cover: 3.4 % vs. 1.6 % for tenure ≤ 5</a:t>
            </a:r>
          </a:p>
          <a:p>
            <a:pPr marL="228600" indent="-228600" algn="l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lang="en-US" sz="1200" b="0" i="0" dirty="0">
                <a:solidFill>
                  <a:srgbClr val="1B2A2F"/>
                </a:solidFill>
                <a:latin typeface="Calibri"/>
                <a:cs typeface="Calibri"/>
              </a:rPr>
              <a:t>best: tenure 3, k = 20 (0.99 %); the whole neighbourhood allows 2.6× fewer iterations and is worse at this tenure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1B2A2F"/>
                </a:solidFill>
                <a:latin typeface="Cambria"/>
                <a:cs typeface="Cambria"/>
              </a:rPr>
              <a:t>Building blocks and budget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5B6B70"/>
                </a:solidFill>
                <a:latin typeface="Calibri"/>
                <a:cs typeface="Calibri"/>
              </a:rPr>
              <a:t>One factor at a time around the best configuration (tuning instances, 5 seeds); confirmation on the 28 held-out instances.</a:t>
            </a:r>
          </a:p>
        </p:txBody>
      </p:sp>
      <p:pic>
        <p:nvPicPr>
          <p:cNvPr id="5" name="Building blocks" descr="Change of the average deviation for each building-block leve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5852160" cy="3429000"/>
          </a:xfrm>
          <a:prstGeom prst="rect">
            <a:avLst/>
          </a:prstGeom>
        </p:spPr>
      </p:pic>
      <p:pic>
        <p:nvPicPr>
          <p:cNvPr id="6" name="Budget" descr="Average deviation against the budget for SA and T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600200"/>
            <a:ext cx="4846320" cy="3198571"/>
          </a:xfrm>
          <a:prstGeom prst="rect">
            <a:avLst/>
          </a:prstGeom>
        </p:spPr>
      </p:pic>
      <p:sp>
        <p:nvSpPr>
          <p:cNvPr id="7" name="Card 7"/>
          <p:cNvSpPr txBox="1"/>
          <p:nvPr/>
        </p:nvSpPr>
        <p:spPr>
          <a:xfrm>
            <a:off x="548640" y="5212080"/>
            <a:ext cx="3520440" cy="1371600"/>
          </a:xfrm>
          <a:prstGeom prst="roundRect">
            <a:avLst>
              <a:gd name="adj" fmla="val 5000"/>
            </a:avLst>
          </a:prstGeom>
          <a:solidFill>
            <a:srgbClr val="EEF4F5"/>
          </a:solidFill>
          <a:ln>
            <a:noFill/>
          </a:ln>
        </p:spPr>
        <p:txBody>
          <a:bodyPr wrap="square" lIns="137160" tIns="137160" rIns="137160" bIns="137160" anchor="t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b="1" i="0" dirty="0">
                <a:solidFill>
                  <a:srgbClr val="1F6F78"/>
                </a:solidFill>
                <a:latin typeface="Cambria"/>
                <a:cs typeface="Cambria"/>
              </a:rPr>
              <a:t>RE after every move pays off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dirty="0">
                <a:solidFill>
                  <a:srgbClr val="1B2A2F"/>
                </a:solidFill>
                <a:latin typeface="Calibri"/>
                <a:cs typeface="Calibri"/>
              </a:rPr>
              <a:t>Without RE, deviation increases by +1.5 / +1.6 pp (SA / TS), despite moves being ~40 % cheaper. At equal CPU time, the increase </a:t>
            </a:r>
            <a:r>
              <a:rPr lang="en-US" sz="1150" b="0" i="0" dirty="0" err="1">
                <a:solidFill>
                  <a:srgbClr val="1B2A2F"/>
                </a:solidFill>
                <a:latin typeface="Calibri"/>
                <a:cs typeface="Calibri"/>
              </a:rPr>
              <a:t>reamains</a:t>
            </a:r>
            <a:r>
              <a:rPr lang="en-US" sz="1150" b="0" i="0" dirty="0">
                <a:solidFill>
                  <a:srgbClr val="1B2A2F"/>
                </a:solidFill>
                <a:latin typeface="Calibri"/>
                <a:cs typeface="Calibri"/>
              </a:rPr>
              <a:t> +1.3 / +1.4 pp (Holm p &lt; 0.005).</a:t>
            </a:r>
          </a:p>
        </p:txBody>
      </p:sp>
      <p:sp>
        <p:nvSpPr>
          <p:cNvPr id="8" name="Card 8"/>
          <p:cNvSpPr txBox="1"/>
          <p:nvPr/>
        </p:nvSpPr>
        <p:spPr>
          <a:xfrm>
            <a:off x="4343400" y="5212080"/>
            <a:ext cx="3520440" cy="1371600"/>
          </a:xfrm>
          <a:prstGeom prst="roundRect">
            <a:avLst>
              <a:gd name="adj" fmla="val 5000"/>
            </a:avLst>
          </a:prstGeom>
          <a:solidFill>
            <a:srgbClr val="EEF4F5"/>
          </a:solidFill>
          <a:ln>
            <a:noFill/>
          </a:ln>
        </p:spPr>
        <p:txBody>
          <a:bodyPr wrap="square" lIns="137160" tIns="137160" rIns="137160" bIns="137160" anchor="t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b="1" i="0" dirty="0">
                <a:solidFill>
                  <a:srgbClr val="1F6F78"/>
                </a:solidFill>
                <a:latin typeface="Cambria"/>
                <a:cs typeface="Cambria"/>
              </a:rPr>
              <a:t>Winner’s curse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dirty="0">
                <a:solidFill>
                  <a:srgbClr val="1B2A2F"/>
                </a:solidFill>
                <a:latin typeface="Calibri"/>
                <a:cs typeface="Calibri"/>
              </a:rPr>
              <a:t>The </a:t>
            </a:r>
            <a:r>
              <a:rPr lang="en-US" sz="1150" b="0" i="0" dirty="0" err="1">
                <a:solidFill>
                  <a:srgbClr val="1B2A2F"/>
                </a:solidFill>
                <a:latin typeface="Calibri"/>
                <a:cs typeface="Calibri"/>
              </a:rPr>
              <a:t>add_only</a:t>
            </a:r>
            <a:r>
              <a:rPr lang="en-US" sz="1150" b="0" i="0" dirty="0">
                <a:solidFill>
                  <a:srgbClr val="1B2A2F"/>
                </a:solidFill>
                <a:latin typeface="Calibri"/>
                <a:cs typeface="Calibri"/>
              </a:rPr>
              <a:t> tabu attribute and rcl = 2 looked better on the tuning set, but not on the held-out instances (Holm p ≥ 0.35). Neither was adopted; the final configuration uses the grid-search winners.</a:t>
            </a:r>
          </a:p>
        </p:txBody>
      </p:sp>
      <p:sp>
        <p:nvSpPr>
          <p:cNvPr id="9" name="Card 9"/>
          <p:cNvSpPr txBox="1"/>
          <p:nvPr/>
        </p:nvSpPr>
        <p:spPr>
          <a:xfrm>
            <a:off x="8138160" y="5212080"/>
            <a:ext cx="3520440" cy="1371600"/>
          </a:xfrm>
          <a:prstGeom prst="roundRect">
            <a:avLst>
              <a:gd name="adj" fmla="val 5000"/>
            </a:avLst>
          </a:prstGeom>
          <a:solidFill>
            <a:srgbClr val="EEF4F5"/>
          </a:solidFill>
          <a:ln>
            <a:noFill/>
          </a:ln>
        </p:spPr>
        <p:txBody>
          <a:bodyPr wrap="square" lIns="137160" tIns="137160" rIns="137160" bIns="137160" anchor="t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b="1" i="0" dirty="0">
                <a:solidFill>
                  <a:srgbClr val="1F6F78"/>
                </a:solidFill>
                <a:latin typeface="Cambria"/>
                <a:cs typeface="Cambria"/>
              </a:rPr>
              <a:t>TS scales with the budget</a:t>
            </a:r>
          </a:p>
          <a:p>
            <a:r>
              <a:rPr lang="en-US" sz="1200" dirty="0"/>
              <a:t>TS deviation falls from 1.62% to 0.56% as the budget increases from 1k to 30k evaluations. SA with a fixed schedule saturates at 1.25%, while scaled cooling reaches 1.03%.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1B2A2F"/>
                </a:solidFill>
                <a:latin typeface="Cambria"/>
                <a:cs typeface="Cambria"/>
              </a:rPr>
              <a:t>TS vs. SA vs. local search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5B6B70"/>
                </a:solidFill>
                <a:latin typeface="Calibri"/>
                <a:cs typeface="Calibri"/>
              </a:rPr>
              <a:t>Final comparison: all 42 instances, 10 seeds, same CH3 + RE start for every algorithm; budget 3000 evaluations for TS and SA.</a:t>
            </a:r>
          </a:p>
        </p:txBody>
      </p:sp>
      <p:pic>
        <p:nvPicPr>
          <p:cNvPr id="5" name="Anytime" descr="Best-so-far deviation after 100, 300, 1000 and 3000 evaluation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5212080" cy="3235084"/>
          </a:xfrm>
          <a:prstGeom prst="rect">
            <a:avLst/>
          </a:prstGeom>
        </p:spPr>
      </p:pic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5989320" y="1691640"/>
          <a:ext cx="5623560" cy="2286000"/>
        </p:xfrm>
        <a:graphic>
          <a:graphicData uri="http://schemas.openxmlformats.org/drawingml/2006/table">
            <a:tbl>
              <a:tblPr firstRow="1"/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Algorithm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Dev. (42)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Held-out (28)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Best of 10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Best known reached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CPU / run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TS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E8873A"/>
                          </a:solidFill>
                          <a:latin typeface="Calibri"/>
                          <a:cs typeface="Calibri"/>
                        </a:rPr>
                        <a:t>1.04 %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0.96 %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0.41 %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25 / 42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0.228 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SA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1.34 %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1.26 %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0.69 %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19 / 42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0.222 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BI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2.67 %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2.54 %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1.23 %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8 / 42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0.016 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FI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2.91 %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2.73 %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1.41 %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7 / 42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0.008 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tats 7"/>
          <p:cNvSpPr txBox="1"/>
          <p:nvPr/>
        </p:nvSpPr>
        <p:spPr>
          <a:xfrm>
            <a:off x="5989320" y="4023360"/>
            <a:ext cx="562356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5B6B70"/>
                </a:solidFill>
                <a:latin typeface="Calibri"/>
                <a:cs typeface="Calibri"/>
              </a:rPr>
              <a:t>Friedman p = 2e-19 </a:t>
            </a:r>
            <a:r>
              <a:rPr lang="en-US" sz="1200" b="0" i="0" dirty="0">
                <a:solidFill>
                  <a:srgbClr val="5B6B70"/>
                </a:solidFill>
                <a:latin typeface="Calibri"/>
                <a:cs typeface="Calibri"/>
                <a:sym typeface="Wingdings" panose="05000000000000000000" pitchFamily="2" charset="2"/>
              </a:rPr>
              <a:t> indicates at least one algorithm differs statistically from the others</a:t>
            </a:r>
            <a:r>
              <a:rPr lang="en-US" sz="1200" b="0" i="0" dirty="0">
                <a:solidFill>
                  <a:srgbClr val="5B6B70"/>
                </a:solidFill>
                <a:latin typeface="Calibri"/>
                <a:cs typeface="Calibri"/>
              </a:rPr>
              <a:t>; mean ranks TS 1.35, SA 1.89, BI 3.08, FI 3.68. TS beats SA on 28 instances, loses on 7; every pair is significant after Holm correction (useful to investigate which pairs differ).</a:t>
            </a:r>
          </a:p>
        </p:txBody>
      </p:sp>
      <p:sp>
        <p:nvSpPr>
          <p:cNvPr id="8" name="Card 8"/>
          <p:cNvSpPr txBox="1"/>
          <p:nvPr/>
        </p:nvSpPr>
        <p:spPr>
          <a:xfrm>
            <a:off x="548640" y="5029200"/>
            <a:ext cx="3520440" cy="1508760"/>
          </a:xfrm>
          <a:prstGeom prst="roundRect">
            <a:avLst>
              <a:gd name="adj" fmla="val 5000"/>
            </a:avLst>
          </a:prstGeom>
          <a:solidFill>
            <a:srgbClr val="EEF4F5"/>
          </a:solidFill>
          <a:ln>
            <a:noFill/>
          </a:ln>
        </p:spPr>
        <p:txBody>
          <a:bodyPr wrap="square" lIns="137160" tIns="137160" rIns="137160" bIns="137160" anchor="t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b="1" i="0" dirty="0">
                <a:solidFill>
                  <a:srgbClr val="1F6F78"/>
                </a:solidFill>
                <a:latin typeface="Cambria"/>
                <a:cs typeface="Cambria"/>
              </a:rPr>
              <a:t>Equal effort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dirty="0">
                <a:solidFill>
                  <a:srgbClr val="1B2A2F"/>
                </a:solidFill>
                <a:latin typeface="Calibri"/>
                <a:cs typeface="Calibri"/>
              </a:rPr>
              <a:t>After 100 evaluations FI is still ahead; after 300 both TS (2.3 %) and SA (2.7 %) have reached the final quality of FI and BI (2.7–2.9 %).</a:t>
            </a:r>
          </a:p>
        </p:txBody>
      </p:sp>
      <p:sp>
        <p:nvSpPr>
          <p:cNvPr id="9" name="Card 9"/>
          <p:cNvSpPr txBox="1"/>
          <p:nvPr/>
        </p:nvSpPr>
        <p:spPr>
          <a:xfrm>
            <a:off x="4343400" y="5029200"/>
            <a:ext cx="3520440" cy="1508760"/>
          </a:xfrm>
          <a:prstGeom prst="roundRect">
            <a:avLst>
              <a:gd name="adj" fmla="val 5000"/>
            </a:avLst>
          </a:prstGeom>
          <a:solidFill>
            <a:srgbClr val="EEF4F5"/>
          </a:solidFill>
          <a:ln>
            <a:noFill/>
          </a:ln>
        </p:spPr>
        <p:txBody>
          <a:bodyPr wrap="square" lIns="137160" tIns="137160" rIns="137160" bIns="137160" anchor="t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b="1" i="0" dirty="0">
                <a:solidFill>
                  <a:srgbClr val="1F6F78"/>
                </a:solidFill>
                <a:latin typeface="Cambria"/>
                <a:cs typeface="Cambria"/>
              </a:rPr>
              <a:t>Why TS &gt; SA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dirty="0">
                <a:solidFill>
                  <a:srgbClr val="1B2A2F"/>
                </a:solidFill>
                <a:latin typeface="Calibri"/>
                <a:cs typeface="Calibri"/>
              </a:rPr>
              <a:t>A random drop-and-repair neighbour is mostly bad (10–15 % accepted). TS takes the best of 20 sampled neighbours in every iteration, and its tabu list prevents cycling.</a:t>
            </a:r>
          </a:p>
        </p:txBody>
      </p:sp>
      <p:sp>
        <p:nvSpPr>
          <p:cNvPr id="10" name="Card 10"/>
          <p:cNvSpPr txBox="1"/>
          <p:nvPr/>
        </p:nvSpPr>
        <p:spPr>
          <a:xfrm>
            <a:off x="8138160" y="5029200"/>
            <a:ext cx="3520440" cy="1508760"/>
          </a:xfrm>
          <a:prstGeom prst="roundRect">
            <a:avLst>
              <a:gd name="adj" fmla="val 5000"/>
            </a:avLst>
          </a:prstGeom>
          <a:solidFill>
            <a:srgbClr val="EEF4F5"/>
          </a:solidFill>
          <a:ln>
            <a:noFill/>
          </a:ln>
        </p:spPr>
        <p:txBody>
          <a:bodyPr wrap="square" lIns="137160" tIns="137160" rIns="137160" bIns="137160" anchor="t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b="1" i="0" dirty="0">
                <a:solidFill>
                  <a:srgbClr val="1F6F78"/>
                </a:solidFill>
                <a:latin typeface="Cambria"/>
                <a:cs typeface="Cambria"/>
              </a:rPr>
              <a:t>Price and gain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dirty="0">
                <a:solidFill>
                  <a:srgbClr val="1B2A2F"/>
                </a:solidFill>
                <a:latin typeface="Calibri"/>
                <a:cs typeface="Calibri"/>
              </a:rPr>
              <a:t>14–29× the CPU time of FI / BI, but the error is halved and the spread over seeds is less than half.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1B2A2F"/>
                </a:solidFill>
                <a:latin typeface="Cambria"/>
                <a:cs typeface="Cambria"/>
              </a:rPr>
              <a:t>Conclusions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5B6B70"/>
                </a:solidFill>
                <a:latin typeface="Calibri"/>
                <a:cs typeface="Calibri"/>
              </a:rPr>
              <a:t>What the experiments show, and what we would do next.</a:t>
            </a:r>
          </a:p>
        </p:txBody>
      </p:sp>
      <p:sp>
        <p:nvSpPr>
          <p:cNvPr id="5" name="Card 5"/>
          <p:cNvSpPr txBox="1"/>
          <p:nvPr/>
        </p:nvSpPr>
        <p:spPr>
          <a:xfrm>
            <a:off x="548640" y="1691640"/>
            <a:ext cx="3520440" cy="1645920"/>
          </a:xfrm>
          <a:prstGeom prst="roundRect">
            <a:avLst>
              <a:gd name="adj" fmla="val 5000"/>
            </a:avLst>
          </a:prstGeom>
          <a:solidFill>
            <a:srgbClr val="EEF4F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6" name="Card big 6"/>
          <p:cNvSpPr txBox="1"/>
          <p:nvPr/>
        </p:nvSpPr>
        <p:spPr>
          <a:xfrm>
            <a:off x="731520" y="178308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1F6F78"/>
                </a:solidFill>
                <a:latin typeface="Cambria"/>
                <a:cs typeface="Cambria"/>
              </a:rPr>
              <a:t>1.04 / 1.34 %</a:t>
            </a:r>
          </a:p>
        </p:txBody>
      </p:sp>
      <p:sp>
        <p:nvSpPr>
          <p:cNvPr id="7" name="Card label 7"/>
          <p:cNvSpPr txBox="1"/>
          <p:nvPr/>
        </p:nvSpPr>
        <p:spPr>
          <a:xfrm>
            <a:off x="731520" y="237744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1B2A2F"/>
                </a:solidFill>
                <a:latin typeface="Calibri"/>
                <a:cs typeface="Calibri"/>
              </a:rPr>
              <a:t>TS and SA halve the error of the local search (2.7–2.9 %); TS is significantly better than SA.</a:t>
            </a:r>
          </a:p>
        </p:txBody>
      </p:sp>
      <p:sp>
        <p:nvSpPr>
          <p:cNvPr id="8" name="Card 8"/>
          <p:cNvSpPr txBox="1"/>
          <p:nvPr/>
        </p:nvSpPr>
        <p:spPr>
          <a:xfrm>
            <a:off x="4343400" y="1691640"/>
            <a:ext cx="3520440" cy="1645920"/>
          </a:xfrm>
          <a:prstGeom prst="roundRect">
            <a:avLst>
              <a:gd name="adj" fmla="val 5000"/>
            </a:avLst>
          </a:prstGeom>
          <a:solidFill>
            <a:srgbClr val="EEF4F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9" name="Card big 9"/>
          <p:cNvSpPr txBox="1"/>
          <p:nvPr/>
        </p:nvSpPr>
        <p:spPr>
          <a:xfrm>
            <a:off x="4526280" y="178308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E8873A"/>
                </a:solidFill>
                <a:latin typeface="Cambria"/>
                <a:cs typeface="Cambria"/>
              </a:rPr>
              <a:t>SA: start cold</a:t>
            </a:r>
          </a:p>
        </p:txBody>
      </p:sp>
      <p:sp>
        <p:nvSpPr>
          <p:cNvPr id="10" name="Card label 10"/>
          <p:cNvSpPr txBox="1"/>
          <p:nvPr/>
        </p:nvSpPr>
        <p:spPr>
          <a:xfrm>
            <a:off x="4526280" y="237744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1B2A2F"/>
                </a:solidFill>
                <a:latin typeface="Calibri"/>
                <a:cs typeface="Calibri"/>
              </a:rPr>
              <a:t>Low p₀ (0.01–0.05), acceptance 10–15 %; cooling ratio and epoch form a flat plateau.</a:t>
            </a:r>
          </a:p>
        </p:txBody>
      </p:sp>
      <p:sp>
        <p:nvSpPr>
          <p:cNvPr id="11" name="Card 11"/>
          <p:cNvSpPr txBox="1"/>
          <p:nvPr/>
        </p:nvSpPr>
        <p:spPr>
          <a:xfrm>
            <a:off x="8138160" y="1691640"/>
            <a:ext cx="3520440" cy="1645920"/>
          </a:xfrm>
          <a:prstGeom prst="roundRect">
            <a:avLst>
              <a:gd name="adj" fmla="val 5000"/>
            </a:avLst>
          </a:prstGeom>
          <a:solidFill>
            <a:srgbClr val="EEF4F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12" name="Card big 12"/>
          <p:cNvSpPr txBox="1"/>
          <p:nvPr/>
        </p:nvSpPr>
        <p:spPr>
          <a:xfrm>
            <a:off x="8321040" y="178308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1F6F78"/>
                </a:solidFill>
                <a:latin typeface="Cambria"/>
                <a:cs typeface="Cambria"/>
              </a:rPr>
              <a:t>TS: tenure 3, k = 20</a:t>
            </a:r>
          </a:p>
        </p:txBody>
      </p:sp>
      <p:sp>
        <p:nvSpPr>
          <p:cNvPr id="13" name="Card label 13"/>
          <p:cNvSpPr txBox="1"/>
          <p:nvPr/>
        </p:nvSpPr>
        <p:spPr>
          <a:xfrm>
            <a:off x="8321040" y="237744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1B2A2F"/>
                </a:solidFill>
                <a:latin typeface="Calibri"/>
                <a:cs typeface="Calibri"/>
              </a:rPr>
              <a:t>Short tabu list and a sampled neighbourhood; long tenures and tiny samples are bad.</a:t>
            </a:r>
          </a:p>
        </p:txBody>
      </p:sp>
      <p:sp>
        <p:nvSpPr>
          <p:cNvPr id="14" name="Card 14"/>
          <p:cNvSpPr txBox="1"/>
          <p:nvPr/>
        </p:nvSpPr>
        <p:spPr>
          <a:xfrm>
            <a:off x="548640" y="3474720"/>
            <a:ext cx="3520440" cy="1645920"/>
          </a:xfrm>
          <a:prstGeom prst="roundRect">
            <a:avLst>
              <a:gd name="adj" fmla="val 5000"/>
            </a:avLst>
          </a:prstGeom>
          <a:solidFill>
            <a:srgbClr val="EEF4F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15" name="Card big 15"/>
          <p:cNvSpPr txBox="1"/>
          <p:nvPr/>
        </p:nvSpPr>
        <p:spPr>
          <a:xfrm>
            <a:off x="731520" y="356616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E8873A"/>
                </a:solidFill>
                <a:latin typeface="Cambria"/>
                <a:cs typeface="Cambria"/>
              </a:rPr>
              <a:t>RE every move</a:t>
            </a:r>
          </a:p>
        </p:txBody>
      </p:sp>
      <p:sp>
        <p:nvSpPr>
          <p:cNvPr id="16" name="Card label 16"/>
          <p:cNvSpPr txBox="1"/>
          <p:nvPr/>
        </p:nvSpPr>
        <p:spPr>
          <a:xfrm>
            <a:off x="731520" y="416052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1B2A2F"/>
                </a:solidFill>
                <a:latin typeface="Calibri"/>
                <a:cs typeface="Calibri"/>
              </a:rPr>
              <a:t>−1.5 to −1.6 pp, also at equal CPU time – the most important building block.</a:t>
            </a:r>
          </a:p>
        </p:txBody>
      </p:sp>
      <p:sp>
        <p:nvSpPr>
          <p:cNvPr id="17" name="Card 17"/>
          <p:cNvSpPr txBox="1"/>
          <p:nvPr/>
        </p:nvSpPr>
        <p:spPr>
          <a:xfrm>
            <a:off x="4343400" y="3474720"/>
            <a:ext cx="3520440" cy="1645920"/>
          </a:xfrm>
          <a:prstGeom prst="roundRect">
            <a:avLst>
              <a:gd name="adj" fmla="val 5000"/>
            </a:avLst>
          </a:prstGeom>
          <a:solidFill>
            <a:srgbClr val="EEF4F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18" name="Card big 18"/>
          <p:cNvSpPr txBox="1"/>
          <p:nvPr/>
        </p:nvSpPr>
        <p:spPr>
          <a:xfrm>
            <a:off x="4526280" y="356616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1F6F78"/>
                </a:solidFill>
                <a:latin typeface="Cambria"/>
                <a:cs typeface="Cambria"/>
              </a:rPr>
              <a:t>Confirm, don’t assume</a:t>
            </a:r>
          </a:p>
        </p:txBody>
      </p:sp>
      <p:sp>
        <p:nvSpPr>
          <p:cNvPr id="19" name="Card label 19"/>
          <p:cNvSpPr txBox="1"/>
          <p:nvPr/>
        </p:nvSpPr>
        <p:spPr>
          <a:xfrm>
            <a:off x="4526280" y="416052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1B2A2F"/>
                </a:solidFill>
                <a:latin typeface="Calibri"/>
                <a:cs typeface="Calibri"/>
              </a:rPr>
              <a:t>Tuning-set gains of repair randomisation and tabu attribute vanished on held-out instances.</a:t>
            </a:r>
          </a:p>
        </p:txBody>
      </p:sp>
      <p:sp>
        <p:nvSpPr>
          <p:cNvPr id="20" name="Card 20"/>
          <p:cNvSpPr txBox="1"/>
          <p:nvPr/>
        </p:nvSpPr>
        <p:spPr>
          <a:xfrm>
            <a:off x="8138160" y="3474720"/>
            <a:ext cx="3520440" cy="1645920"/>
          </a:xfrm>
          <a:prstGeom prst="roundRect">
            <a:avLst>
              <a:gd name="adj" fmla="val 5000"/>
            </a:avLst>
          </a:prstGeom>
          <a:solidFill>
            <a:srgbClr val="EEF4F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21" name="Card big 21"/>
          <p:cNvSpPr txBox="1"/>
          <p:nvPr/>
        </p:nvSpPr>
        <p:spPr>
          <a:xfrm>
            <a:off x="8321040" y="356616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E8873A"/>
                </a:solidFill>
                <a:latin typeface="Cambria"/>
                <a:cs typeface="Cambria"/>
              </a:rPr>
              <a:t>Budget</a:t>
            </a:r>
          </a:p>
        </p:txBody>
      </p:sp>
      <p:sp>
        <p:nvSpPr>
          <p:cNvPr id="22" name="Card label 22"/>
          <p:cNvSpPr txBox="1"/>
          <p:nvPr/>
        </p:nvSpPr>
        <p:spPr>
          <a:xfrm>
            <a:off x="8321040" y="416052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1B2A2F"/>
                </a:solidFill>
                <a:latin typeface="Calibri"/>
                <a:cs typeface="Calibri"/>
              </a:rPr>
              <a:t>TS keeps improving with more evaluations; SA needs a cooling schedule that scales with the budget.</a:t>
            </a:r>
          </a:p>
        </p:txBody>
      </p:sp>
      <p:sp>
        <p:nvSpPr>
          <p:cNvPr id="23" name="Takeaway 23"/>
          <p:cNvSpPr txBox="1"/>
          <p:nvPr/>
        </p:nvSpPr>
        <p:spPr>
          <a:xfrm>
            <a:off x="548640" y="534924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0F3A40"/>
          </a:solidFill>
          <a:ln>
            <a:noFill/>
          </a:ln>
        </p:spPr>
        <p:txBody>
          <a:bodyPr wrap="square" lIns="228600" tIns="228600" rIns="228600" bIns="22860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>Recommendation  </a:t>
            </a:r>
            <a:r>
              <a:rPr lang="en-US" sz="1500" b="0" i="0" dirty="0">
                <a:solidFill>
                  <a:srgbClr val="FFFFFF"/>
                </a:solidFill>
                <a:latin typeface="Calibri"/>
                <a:cs typeface="Calibri"/>
              </a:rPr>
              <a:t>Use tabu search (tenure 3, k = 20, RE after every move): 1.04 % on average, 25 of 42 best known values reached, 0.23 s per run. Next: richer neighbourhoods (several dropped sets, VNS-style shaking), restarts, parameters per instance class.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CP">
  <a:themeElements>
    <a:clrScheme name="SCP">
      <a:dk1>
        <a:srgbClr val="1B2A2F"/>
      </a:dk1>
      <a:lt1>
        <a:srgbClr val="FFFFFF"/>
      </a:lt1>
      <a:dk2>
        <a:srgbClr val="0F3A40"/>
      </a:dk2>
      <a:lt2>
        <a:srgbClr val="EEF4F5"/>
      </a:lt2>
      <a:accent1>
        <a:srgbClr val="1F6F78"/>
      </a:accent1>
      <a:accent2>
        <a:srgbClr val="E8873A"/>
      </a:accent2>
      <a:accent3>
        <a:srgbClr val="9AA0A6"/>
      </a:accent3>
      <a:accent4>
        <a:srgbClr val="17505A"/>
      </a:accent4>
      <a:accent5>
        <a:srgbClr val="BFD8DB"/>
      </a:accent5>
      <a:accent6>
        <a:srgbClr val="5B6B70"/>
      </a:accent6>
      <a:hlink>
        <a:srgbClr val="1F6F78"/>
      </a:hlink>
      <a:folHlink>
        <a:srgbClr val="5B6B70"/>
      </a:folHlink>
    </a:clrScheme>
    <a:fontScheme name="SCP">
      <a:majorFont>
        <a:latin typeface="Cambria"/>
        <a:ea typeface=""/>
        <a:cs typeface=""/>
      </a:majorFont>
      <a:minorFont>
        <a:latin typeface="Calibri"/>
        <a:ea typeface=""/>
        <a:cs typeface=""/>
      </a:minorFont>
    </a:fontScheme>
    <a:fmtScheme name="SCP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1532</Words>
  <Application>Microsoft Office PowerPoint</Application>
  <PresentationFormat>Ecrã Panorâmico</PresentationFormat>
  <Paragraphs>157</Paragraphs>
  <Slides>7</Slides>
  <Notes>1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SCP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Improvement heuristics for the Set Covering Problem</dc:title>
  <dc:creator/>
  <cp:lastModifiedBy>Artur Miguel</cp:lastModifiedBy>
  <cp:revision>5</cp:revision>
  <dcterms:modified xsi:type="dcterms:W3CDTF">2026-10-15T16:35:39Z</dcterms:modified>
</cp:coreProperties>
</file>