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hart_sa.png"/><Relationship Id="rId3" Type="http://schemas.openxmlformats.org/officeDocument/2006/relationships/image" Target="../media/chart_ts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hart_blocks.png"/><Relationship Id="rId3" Type="http://schemas.openxmlformats.org/officeDocument/2006/relationships/image" Target="../media/chart_budget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hart_anytime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640080" y="868680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FFFFFF"/>
                </a:solidFill>
                <a:latin typeface="Cambria"/>
                <a:cs typeface="Cambria"/>
              </a:rPr>
              <a:t>Neighbourhood-based metaheuristics for the Set Covering Problem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640080" y="320040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BFD8DB"/>
                </a:solidFill>
                <a:latin typeface="Calibri"/>
                <a:cs typeface="Calibri"/>
              </a:rPr>
              <a:t>Assignment 3  ·  Heuristic Optimization</a:t>
            </a:r>
          </a:p>
        </p:txBody>
      </p:sp>
      <p:sp>
        <p:nvSpPr>
          <p:cNvPr id="5" name="Authors 5"/>
          <p:cNvSpPr txBox="1"/>
          <p:nvPr/>
        </p:nvSpPr>
        <p:spPr>
          <a:xfrm>
            <a:off x="640080" y="37947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BFD8DB"/>
                </a:solidFill>
                <a:latin typeface="Calibri"/>
                <a:cs typeface="Calibri"/>
              </a:rPr>
              <a:t>Group 11: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Artur Santoalha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Kirill Savin</a:t>
            </a:r>
          </a:p>
        </p:txBody>
      </p:sp>
      <p:sp>
        <p:nvSpPr>
          <p:cNvPr id="6" name="Task 6"/>
          <p:cNvSpPr txBox="1"/>
          <p:nvPr/>
        </p:nvSpPr>
        <p:spPr>
          <a:xfrm>
            <a:off x="7863840" y="868680"/>
            <a:ext cx="3749040" cy="310896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E8873A"/>
                </a:solidFill>
                <a:latin typeface="Calibri"/>
                <a:cs typeface="Calibri"/>
              </a:rPr>
              <a:t>THE TASK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Calibri"/>
                <a:cs typeface="Calibri"/>
              </a:rPr>
              <a:t>Design simulated annealing and tabu search for the SCP and show how their parameters and building blocks change quality and effort.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BFD8DB"/>
                </a:solidFill>
                <a:latin typeface="Cambria"/>
                <a:cs typeface="Cambria"/>
              </a:rPr>
              <a:t>CH3 + RE  →  SA  |  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BFD8DB"/>
                </a:solidFill>
                <a:latin typeface="Calibri"/>
                <a:cs typeface="Calibri"/>
              </a:rPr>
              <a:t>vs. the local search of Assignment 2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640080" y="4983480"/>
            <a:ext cx="1417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E8873A"/>
                </a:solidFill>
                <a:latin typeface="Cambria"/>
                <a:cs typeface="Cambria"/>
              </a:rPr>
              <a:t>1.0 %</a:t>
            </a:r>
          </a:p>
        </p:txBody>
      </p:sp>
      <p:sp>
        <p:nvSpPr>
          <p:cNvPr id="8" name="Stat label 8"/>
          <p:cNvSpPr txBox="1"/>
          <p:nvPr/>
        </p:nvSpPr>
        <p:spPr>
          <a:xfrm>
            <a:off x="2103120" y="4983480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TS deviation from the best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known (SA 1.3 %, local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search 2.7–2.9 %)</a:t>
            </a:r>
          </a:p>
        </p:txBody>
      </p:sp>
      <p:sp>
        <p:nvSpPr>
          <p:cNvPr id="9" name="Stat 9"/>
          <p:cNvSpPr txBox="1"/>
          <p:nvPr/>
        </p:nvSpPr>
        <p:spPr>
          <a:xfrm>
            <a:off x="4434840" y="4983480"/>
            <a:ext cx="1417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E8873A"/>
                </a:solidFill>
                <a:latin typeface="Cambria"/>
                <a:cs typeface="Cambria"/>
              </a:rPr>
              <a:t>9,548</a:t>
            </a:r>
          </a:p>
        </p:txBody>
      </p:sp>
      <p:sp>
        <p:nvSpPr>
          <p:cNvPr id="10" name="Stat label 10"/>
          <p:cNvSpPr txBox="1"/>
          <p:nvPr/>
        </p:nvSpPr>
        <p:spPr>
          <a:xfrm>
            <a:off x="5897880" y="4983480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runs in 7 experiments,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tuned on 14 instances,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final test on all 42</a:t>
            </a:r>
          </a:p>
        </p:txBody>
      </p:sp>
      <p:sp>
        <p:nvSpPr>
          <p:cNvPr id="11" name="Stat 11"/>
          <p:cNvSpPr txBox="1"/>
          <p:nvPr/>
        </p:nvSpPr>
        <p:spPr>
          <a:xfrm>
            <a:off x="8229600" y="4983480"/>
            <a:ext cx="1417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2" name="Stat label 12"/>
          <p:cNvSpPr txBox="1"/>
          <p:nvPr/>
        </p:nvSpPr>
        <p:spPr>
          <a:xfrm>
            <a:off x="9692640" y="4983480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metaheuristics on one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neighbourhood, RE after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every move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Design: two metaheuristics, one neighbourhood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Same start, same move, same budget – only the way of escaping local optima differs.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691640"/>
            <a:ext cx="3291840" cy="361188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B2A2F"/>
                </a:solidFill>
                <a:latin typeface="Cambria"/>
                <a:cs typeface="Cambria"/>
              </a:rPr>
              <a:t>Common to both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Start: CH3 + RE (same seed → identical start)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Move: drop one selected set, repair it greedily, then RE after every move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Cost: incremental update, tried moves are undone from a log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Budget: 3000 evaluated neighbours (about 0.25 s)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Result: best cover found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4069080" y="1691640"/>
            <a:ext cx="7543800" cy="173736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7" name="Badge 7"/>
          <p:cNvSpPr txBox="1"/>
          <p:nvPr/>
        </p:nvSpPr>
        <p:spPr>
          <a:xfrm>
            <a:off x="4297680" y="1828800"/>
            <a:ext cx="731520" cy="384048"/>
          </a:xfrm>
          <a:prstGeom prst="roundRect">
            <a:avLst>
              <a:gd name="adj" fmla="val 30000"/>
            </a:avLst>
          </a:prstGeom>
          <a:solidFill>
            <a:srgbClr val="E8873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SA</a:t>
            </a:r>
          </a:p>
        </p:txBody>
      </p:sp>
      <p:sp>
        <p:nvSpPr>
          <p:cNvPr id="8" name="Card head 8"/>
          <p:cNvSpPr txBox="1"/>
          <p:nvPr/>
        </p:nvSpPr>
        <p:spPr>
          <a:xfrm>
            <a:off x="5166360" y="1801368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B2A2F"/>
                </a:solidFill>
                <a:latin typeface="Cambria"/>
                <a:cs typeface="Cambria"/>
              </a:rPr>
              <a:t>Simulated annealing</a:t>
            </a:r>
          </a:p>
        </p:txBody>
      </p:sp>
      <p:sp>
        <p:nvSpPr>
          <p:cNvPr id="9" name="Params 9"/>
          <p:cNvSpPr txBox="1"/>
          <p:nvPr/>
        </p:nvSpPr>
        <p:spPr>
          <a:xfrm>
            <a:off x="8412480" y="1801368"/>
            <a:ext cx="30632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B6B70"/>
                </a:solidFill>
                <a:latin typeface="Calibri"/>
                <a:cs typeface="Calibri"/>
              </a:rPr>
              <a:t>parameters: p₀, α, L</a:t>
            </a:r>
          </a:p>
        </p:txBody>
      </p:sp>
      <p:sp>
        <p:nvSpPr>
          <p:cNvPr id="10" name="Card body 10"/>
          <p:cNvSpPr txBox="1"/>
          <p:nvPr/>
        </p:nvSpPr>
        <p:spPr>
          <a:xfrm>
            <a:off x="4297680" y="2313432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Random neighbour, accepted with exp(−Δ/T) if worse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T₀ calibrated: an average worsening move is accepted with probability p₀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Geometric cooling T ← αT every L evaluations</a:t>
            </a:r>
          </a:p>
        </p:txBody>
      </p:sp>
      <p:sp>
        <p:nvSpPr>
          <p:cNvPr id="11" name="Card 11"/>
          <p:cNvSpPr txBox="1"/>
          <p:nvPr/>
        </p:nvSpPr>
        <p:spPr>
          <a:xfrm>
            <a:off x="4069080" y="3520440"/>
            <a:ext cx="7543800" cy="173736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2" name="Badge 12"/>
          <p:cNvSpPr txBox="1"/>
          <p:nvPr/>
        </p:nvSpPr>
        <p:spPr>
          <a:xfrm>
            <a:off x="4297680" y="3657600"/>
            <a:ext cx="731520" cy="384048"/>
          </a:xfrm>
          <a:prstGeom prst="roundRect">
            <a:avLst>
              <a:gd name="adj" fmla="val 30000"/>
            </a:avLst>
          </a:prstGeom>
          <a:solidFill>
            <a:srgbClr val="1F6F78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TS</a:t>
            </a:r>
          </a:p>
        </p:txBody>
      </p:sp>
      <p:sp>
        <p:nvSpPr>
          <p:cNvPr id="13" name="Card head 13"/>
          <p:cNvSpPr txBox="1"/>
          <p:nvPr/>
        </p:nvSpPr>
        <p:spPr>
          <a:xfrm>
            <a:off x="5166360" y="3630168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B2A2F"/>
                </a:solidFill>
                <a:latin typeface="Cambria"/>
                <a:cs typeface="Cambria"/>
              </a:rPr>
              <a:t>Tabu search</a:t>
            </a:r>
          </a:p>
        </p:txBody>
      </p:sp>
      <p:sp>
        <p:nvSpPr>
          <p:cNvPr id="14" name="Params 14"/>
          <p:cNvSpPr txBox="1"/>
          <p:nvPr/>
        </p:nvSpPr>
        <p:spPr>
          <a:xfrm>
            <a:off x="8412480" y="3630168"/>
            <a:ext cx="30632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B6B70"/>
                </a:solidFill>
                <a:latin typeface="Calibri"/>
                <a:cs typeface="Calibri"/>
              </a:rPr>
              <a:t>parameters: tenure, k, aspiration, λ</a:t>
            </a:r>
          </a:p>
        </p:txBody>
      </p:sp>
      <p:sp>
        <p:nvSpPr>
          <p:cNvPr id="15" name="Card body 15"/>
          <p:cNvSpPr txBox="1"/>
          <p:nvPr/>
        </p:nvSpPr>
        <p:spPr>
          <a:xfrm>
            <a:off x="4297680" y="4142232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Sample k neighbours, take the best admissible one – even if worse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Tabu: removed sets may not return, added sets may not be dropped for a tenure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Aspiration; frequency-based long-term memory</a:t>
            </a:r>
          </a:p>
        </p:txBody>
      </p:sp>
      <p:sp>
        <p:nvSpPr>
          <p:cNvPr id="16" name="Note 16"/>
          <p:cNvSpPr txBox="1"/>
          <p:nvPr/>
        </p:nvSpPr>
        <p:spPr>
          <a:xfrm>
            <a:off x="548640" y="5468112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Building blocks under test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RE after every move · randomised repair (GRASP-like restricted candidate list) · initial solution · aspiration · tabu attribute · dynamic tenure · long-term memory · computation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Experimental design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Full factorial grids for the parameters, one factor at a time for the building blocks, a confirmation step and a final test.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691640"/>
          <a:ext cx="11064240" cy="3200400"/>
        </p:xfrm>
        <a:graphic>
          <a:graphicData uri="http://schemas.openxmlformats.org/drawingml/2006/table">
            <a:tbl>
              <a:tblPr firstRow="1"/>
              <a:tblGrid>
                <a:gridCol w="2103120"/>
                <a:gridCol w="5120640"/>
                <a:gridCol w="29260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Study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Factors and levels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Instances · seeds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Runs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  SA parameters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p₀ (6) × cooling α (3) × epoch L (4): 72 configurations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14 tuning · 3 seeds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3,024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  TS parameters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tenure (6) × sub-neighbourhood k (5): 30 configurations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14 tuning · 3 seeds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1,260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  Building blocks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RE per move, repair randomisation, start, aspiration, tabu attribute, dynamic tenure, memory λ (+ RE at equal CPU)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14 tuning · 5 seeds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2,240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  Confirmation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promising changes of study C, tested on the held-out instances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28 held-out · 5 new seeds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840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D  Budget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1000 – 30000 evaluations (SA with fixed and with scaled cooling, TS)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14 tuning · 3 seeds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504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E  Final comparison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TS, SA, FI, BI – sequential, clean CPU times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all 42 · 10 new seeds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1,680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6" name="Card 6"/>
          <p:cNvSpPr txBox="1"/>
          <p:nvPr/>
        </p:nvSpPr>
        <p:spPr>
          <a:xfrm>
            <a:off x="548640" y="50749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Measures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Effectiveness: % deviation from the best known solution. Efficiency: evaluated neighbours (budget), CPU time, anytime behaviour.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4343400" y="50749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Statistics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ANOVA with the instance as block (partial η²), Friedman test, Wilcoxon signed-rank with Holm correction on instance means; paired by the common start.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8138160" y="50749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Raw data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All 9,548 runs in raw_data_NN3.xlsx and raw_data_NN3.txt (+ instance-level matrix of the final tests).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What matters: the parameters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Average deviation [%] on the tuning instances (3 seeds per cell); darker = better.</a:t>
            </a:r>
          </a:p>
        </p:txBody>
      </p:sp>
      <p:pic>
        <p:nvPicPr>
          <p:cNvPr id="5" name="SA heat map" descr="SA deviation by initial acceptance probability and epoch lengt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94960" cy="2743200"/>
          </a:xfrm>
          <a:prstGeom prst="rect">
            <a:avLst/>
          </a:prstGeom>
        </p:spPr>
      </p:pic>
      <p:pic>
        <p:nvPicPr>
          <p:cNvPr id="6" name="TS heat map" descr="TS deviation by tenure and sub-neighbourhood siz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394960" cy="2743200"/>
          </a:xfrm>
          <a:prstGeom prst="rect">
            <a:avLst/>
          </a:prstGeom>
        </p:spPr>
      </p:pic>
      <p:sp>
        <p:nvSpPr>
          <p:cNvPr id="7" name="Card 7"/>
          <p:cNvSpPr txBox="1"/>
          <p:nvPr/>
        </p:nvSpPr>
        <p:spPr>
          <a:xfrm>
            <a:off x="548640" y="452628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E8873A"/>
                </a:solidFill>
                <a:latin typeface="Cambria"/>
                <a:cs typeface="Cambria"/>
              </a:rPr>
              <a:t>SA: start cold, the rest is a plateau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p₀ has the largest effect (η²ₚ = 0.049); α alone is not significant (0.0005)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a hot start with slow cooling never cools down: p₀ = 0.3, α = 0.98, L = 200 gives 3.7 % vs. 1.27 % for the best (p₀ = 0.01, α = 0.95, L = 200)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the six best configurations are statistically tied; best acceptance rate 10–15 %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6217920" y="452628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TS: short tenure, k ≈ 20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tenure (η²ₚ = 0.33), k (0.22) and their interaction (0.18) all matter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tenure ≥ 10 freezes the cover: 3.4 % vs. 1.6 % for tenure ≤ 5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best: tenure 3, k = 20 (0.99 %); the whole neighbourhood allows 2.6× fewer iterations and is worse at this tenure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Building blocks and budget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One factor at a time around the best configuration (tuning instances, 5 seeds); confirmation on the 28 held-out instances.</a:t>
            </a:r>
          </a:p>
        </p:txBody>
      </p:sp>
      <p:pic>
        <p:nvPicPr>
          <p:cNvPr id="5" name="Building blocks" descr="Change of the average deviation for each building-block lev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852160" cy="3429000"/>
          </a:xfrm>
          <a:prstGeom prst="rect">
            <a:avLst/>
          </a:prstGeom>
        </p:spPr>
      </p:pic>
      <p:pic>
        <p:nvPicPr>
          <p:cNvPr id="6" name="Budget" descr="Average deviation against the budget for SA and 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00200"/>
            <a:ext cx="4846320" cy="3198571"/>
          </a:xfrm>
          <a:prstGeom prst="rect">
            <a:avLst/>
          </a:prstGeom>
        </p:spPr>
      </p:pic>
      <p:sp>
        <p:nvSpPr>
          <p:cNvPr id="7" name="Card 7"/>
          <p:cNvSpPr txBox="1"/>
          <p:nvPr/>
        </p:nvSpPr>
        <p:spPr>
          <a:xfrm>
            <a:off x="548640" y="521208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RE after every move pays off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Without it +1.5 / +1.6 pp (SA / TS) although a move is ~40 % cheaper. At equal CPU time still +1.3 / +1.4 pp (Holm p &lt; 0.005).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4343400" y="521208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Winner’s curse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add_only tabu attribute and rcl = 2 looked better on the tuning set, but not on the held-out instances (Holm p ≥ 0.35). Nothing adopted: final = grid winners.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8138160" y="521208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TS scales with the budget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TS 1.62 → 0.56 % from 1k to 30k evaluations; SA with a fixed schedule saturates at 1.25 %, with scaled cooling it reaches 1.03 %.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TS vs. SA vs. local search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Final comparison: all 42 instances, 10 seeds, same CH3 + RE start for every algorithm; budget 3000 evaluations for TS and SA.</a:t>
            </a:r>
          </a:p>
        </p:txBody>
      </p:sp>
      <p:pic>
        <p:nvPicPr>
          <p:cNvPr id="5" name="Anytime" descr="Best-so-far deviation after 100, 300, 1000 and 3000 evalu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3235084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989320" y="1691640"/>
          <a:ext cx="5623560" cy="2286000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868680"/>
                <a:gridCol w="1051560"/>
                <a:gridCol w="868680"/>
                <a:gridCol w="1097280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(42)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Held-out (28)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of 10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known reached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CPU / run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1.04 %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0.96 %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0.41 %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25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0.228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SA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1.34 %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1.26 %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0.69 %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0.222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2.67 %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2.54 %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0.016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2.91 %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2.73 %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1.41 %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0.008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7" name="Stats 7"/>
          <p:cNvSpPr txBox="1"/>
          <p:nvPr/>
        </p:nvSpPr>
        <p:spPr>
          <a:xfrm>
            <a:off x="5989320" y="4023360"/>
            <a:ext cx="56235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6B70"/>
                </a:solidFill>
                <a:latin typeface="Calibri"/>
                <a:cs typeface="Calibri"/>
              </a:rPr>
              <a:t>Friedman p = 2e-19; mean ranks TS 1.35, SA 1.89, BI 3.08, FI 3.68. TS beats SA on 28 instances, loses on 7; every pair is significant after Holm correction.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548640" y="5029200"/>
            <a:ext cx="3520440" cy="150876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Equal effort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After 100 evaluations FI is still ahead; after 300 both TS (2.3 %) and SA (2.7 %) have reached the final quality of FI and BI (2.7–2.9 %).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4343400" y="5029200"/>
            <a:ext cx="3520440" cy="150876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Why TS &gt; SA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A random drop-and-repair neighbour is mostly bad (10–15 % accepted). TS takes the best of 20 sampled neighbours in every iteration, and its tabu list prevents cycling.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8138160" y="5029200"/>
            <a:ext cx="3520440" cy="150876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Price and gain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14–29× the CPU time of FI / BI, but the error is halved and the spread over seeds is less than half.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Conclusions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What the experiments show, and what we would do next.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69164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Card big 6"/>
          <p:cNvSpPr txBox="1"/>
          <p:nvPr/>
        </p:nvSpPr>
        <p:spPr>
          <a:xfrm>
            <a:off x="731520" y="17830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6F78"/>
                </a:solidFill>
                <a:latin typeface="Cambria"/>
                <a:cs typeface="Cambria"/>
              </a:rPr>
              <a:t>1.0 / 1.3 %</a:t>
            </a:r>
          </a:p>
        </p:txBody>
      </p:sp>
      <p:sp>
        <p:nvSpPr>
          <p:cNvPr id="7" name="Card label 7"/>
          <p:cNvSpPr txBox="1"/>
          <p:nvPr/>
        </p:nvSpPr>
        <p:spPr>
          <a:xfrm>
            <a:off x="731520" y="2377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TS and SA halve the error of the local search (2.7–2.9 %); TS is significantly better than SA.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4343400" y="169164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9" name="Card big 9"/>
          <p:cNvSpPr txBox="1"/>
          <p:nvPr/>
        </p:nvSpPr>
        <p:spPr>
          <a:xfrm>
            <a:off x="4526280" y="17830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E8873A"/>
                </a:solidFill>
                <a:latin typeface="Cambria"/>
                <a:cs typeface="Cambria"/>
              </a:rPr>
              <a:t>SA: start cold</a:t>
            </a:r>
          </a:p>
        </p:txBody>
      </p:sp>
      <p:sp>
        <p:nvSpPr>
          <p:cNvPr id="10" name="Card label 10"/>
          <p:cNvSpPr txBox="1"/>
          <p:nvPr/>
        </p:nvSpPr>
        <p:spPr>
          <a:xfrm>
            <a:off x="4526280" y="2377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Low p₀ (0.01–0.05), acceptance 10–15 %; cooling ratio and epoch form a flat plateau.</a:t>
            </a:r>
          </a:p>
        </p:txBody>
      </p:sp>
      <p:sp>
        <p:nvSpPr>
          <p:cNvPr id="11" name="Card 11"/>
          <p:cNvSpPr txBox="1"/>
          <p:nvPr/>
        </p:nvSpPr>
        <p:spPr>
          <a:xfrm>
            <a:off x="8138160" y="169164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2" name="Card big 12"/>
          <p:cNvSpPr txBox="1"/>
          <p:nvPr/>
        </p:nvSpPr>
        <p:spPr>
          <a:xfrm>
            <a:off x="8321040" y="17830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6F78"/>
                </a:solidFill>
                <a:latin typeface="Cambria"/>
                <a:cs typeface="Cambria"/>
              </a:rPr>
              <a:t>TS: tenure 3, k = 20</a:t>
            </a:r>
          </a:p>
        </p:txBody>
      </p:sp>
      <p:sp>
        <p:nvSpPr>
          <p:cNvPr id="13" name="Card label 13"/>
          <p:cNvSpPr txBox="1"/>
          <p:nvPr/>
        </p:nvSpPr>
        <p:spPr>
          <a:xfrm>
            <a:off x="8321040" y="2377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Short tabu list and a sampled neighbourhood; long tenures and tiny samples are bad.</a:t>
            </a:r>
          </a:p>
        </p:txBody>
      </p:sp>
      <p:sp>
        <p:nvSpPr>
          <p:cNvPr id="14" name="Card 14"/>
          <p:cNvSpPr txBox="1"/>
          <p:nvPr/>
        </p:nvSpPr>
        <p:spPr>
          <a:xfrm>
            <a:off x="548640" y="347472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5" name="Card big 15"/>
          <p:cNvSpPr txBox="1"/>
          <p:nvPr/>
        </p:nvSpPr>
        <p:spPr>
          <a:xfrm>
            <a:off x="731520" y="35661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E8873A"/>
                </a:solidFill>
                <a:latin typeface="Cambria"/>
                <a:cs typeface="Cambria"/>
              </a:rPr>
              <a:t>RE every move</a:t>
            </a:r>
          </a:p>
        </p:txBody>
      </p:sp>
      <p:sp>
        <p:nvSpPr>
          <p:cNvPr id="16" name="Card label 16"/>
          <p:cNvSpPr txBox="1"/>
          <p:nvPr/>
        </p:nvSpPr>
        <p:spPr>
          <a:xfrm>
            <a:off x="731520" y="41605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−1.5 to −1.6 pp, also at equal CPU time – the most important building block.</a:t>
            </a:r>
          </a:p>
        </p:txBody>
      </p:sp>
      <p:sp>
        <p:nvSpPr>
          <p:cNvPr id="17" name="Card 17"/>
          <p:cNvSpPr txBox="1"/>
          <p:nvPr/>
        </p:nvSpPr>
        <p:spPr>
          <a:xfrm>
            <a:off x="4343400" y="347472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8" name="Card big 18"/>
          <p:cNvSpPr txBox="1"/>
          <p:nvPr/>
        </p:nvSpPr>
        <p:spPr>
          <a:xfrm>
            <a:off x="4526280" y="35661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6F78"/>
                </a:solidFill>
                <a:latin typeface="Cambria"/>
                <a:cs typeface="Cambria"/>
              </a:rPr>
              <a:t>Confirm, don’t assume</a:t>
            </a:r>
          </a:p>
        </p:txBody>
      </p:sp>
      <p:sp>
        <p:nvSpPr>
          <p:cNvPr id="19" name="Card label 19"/>
          <p:cNvSpPr txBox="1"/>
          <p:nvPr/>
        </p:nvSpPr>
        <p:spPr>
          <a:xfrm>
            <a:off x="4526280" y="41605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Tuning-set gains of repair randomisation and tabu attribute vanished on held-out instances.</a:t>
            </a:r>
          </a:p>
        </p:txBody>
      </p:sp>
      <p:sp>
        <p:nvSpPr>
          <p:cNvPr id="20" name="Card 20"/>
          <p:cNvSpPr txBox="1"/>
          <p:nvPr/>
        </p:nvSpPr>
        <p:spPr>
          <a:xfrm>
            <a:off x="8138160" y="347472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21" name="Card big 21"/>
          <p:cNvSpPr txBox="1"/>
          <p:nvPr/>
        </p:nvSpPr>
        <p:spPr>
          <a:xfrm>
            <a:off x="8321040" y="35661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E8873A"/>
                </a:solidFill>
                <a:latin typeface="Cambria"/>
                <a:cs typeface="Cambria"/>
              </a:rPr>
              <a:t>Budget</a:t>
            </a:r>
          </a:p>
        </p:txBody>
      </p:sp>
      <p:sp>
        <p:nvSpPr>
          <p:cNvPr id="22" name="Card label 22"/>
          <p:cNvSpPr txBox="1"/>
          <p:nvPr/>
        </p:nvSpPr>
        <p:spPr>
          <a:xfrm>
            <a:off x="8321040" y="41605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TS keeps improving with more evaluations; SA needs a cooling schedule that scales with the budget.</a:t>
            </a:r>
          </a:p>
        </p:txBody>
      </p:sp>
      <p:sp>
        <p:nvSpPr>
          <p:cNvPr id="23" name="Takeaway 23"/>
          <p:cNvSpPr txBox="1"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0F3A40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Recommendation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Use tabu search (tenure 3, k = 20, RE after every move): 1.04 % on average, 25 of 42 best known values reached, 0.23 s per run. Next: richer neighbourhoods (several dropped sets, VNS-style shaking), restarts, parameters per instance class. Data and code: raw_data_NN3.xlsx / .txt and NN3.ipynb.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2F"/>
      </a:dk1>
      <a:lt1>
        <a:srgbClr val="FFFFFF"/>
      </a:lt1>
      <a:dk2>
        <a:srgbClr val="0F3A40"/>
      </a:dk2>
      <a:lt2>
        <a:srgbClr val="EEF4F5"/>
      </a:lt2>
      <a:accent1>
        <a:srgbClr val="1F6F78"/>
      </a:accent1>
      <a:accent2>
        <a:srgbClr val="E8873A"/>
      </a:accent2>
      <a:accent3>
        <a:srgbClr val="9AA0A6"/>
      </a:accent3>
      <a:accent4>
        <a:srgbClr val="17505A"/>
      </a:accent4>
      <a:accent5>
        <a:srgbClr val="BFD8DB"/>
      </a:accent5>
      <a:accent6>
        <a:srgbClr val="5B6B70"/>
      </a:accent6>
      <a:hlink>
        <a:srgbClr val="1F6F78"/>
      </a:hlink>
      <a:folHlink>
        <a:srgbClr val="5B6B70"/>
      </a:folHlink>
    </a:clrScheme>
    <a:fontScheme name="SC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S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Improvement heuristics for the Set Covering Problem</dc:title>
  <dc:creator/>
</cp:coreProperties>
</file>