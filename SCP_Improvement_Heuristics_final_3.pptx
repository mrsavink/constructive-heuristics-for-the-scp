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640080" y="868680"/>
            <a:ext cx="66751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FFFFFF"/>
                </a:solidFill>
                <a:latin typeface="Cambria"/>
                <a:cs typeface="Cambria"/>
              </a:rPr>
              <a:t>Improvement heuristics for the Set Covering Problem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640080" y="320040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BFD8DB"/>
                </a:solidFill>
                <a:latin typeface="Calibri"/>
                <a:cs typeface="Calibri"/>
              </a:rPr>
              <a:t>Assignment 2  ·  Heuristic Optimization</a:t>
            </a:r>
          </a:p>
        </p:txBody>
      </p:sp>
      <p:sp>
        <p:nvSpPr>
          <p:cNvPr id="5" name="Authors 5"/>
          <p:cNvSpPr txBox="1"/>
          <p:nvPr/>
        </p:nvSpPr>
        <p:spPr>
          <a:xfrm>
            <a:off x="640080" y="37947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BFD8DB"/>
                </a:solidFill>
                <a:latin typeface="Calibri"/>
                <a:cs typeface="Calibri"/>
              </a:rPr>
              <a:t>Group 11: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Artur Santoalha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Kirill Savin</a:t>
            </a:r>
          </a:p>
        </p:txBody>
      </p:sp>
      <p:sp>
        <p:nvSpPr>
          <p:cNvPr id="6" name="Task 6"/>
          <p:cNvSpPr txBox="1"/>
          <p:nvPr/>
        </p:nvSpPr>
        <p:spPr>
          <a:xfrm>
            <a:off x="7863840" y="868680"/>
            <a:ext cx="3749040" cy="278892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E8873A"/>
                </a:solidFill>
                <a:latin typeface="Calibri"/>
                <a:cs typeface="Calibri"/>
              </a:rPr>
              <a:t>THE TASK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900" b="0" i="0" dirty="0">
                <a:solidFill>
                  <a:srgbClr val="FFFFFF"/>
                </a:solidFill>
                <a:latin typeface="Calibri"/>
                <a:cs typeface="Calibri"/>
              </a:rPr>
              <a:t>Improve a constructed cover by iterative improvement, with first and best improvement.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BFD8DB"/>
                </a:solidFill>
                <a:latin typeface="Cambria"/>
                <a:cs typeface="Cambria"/>
              </a:rPr>
              <a:t>4 initial solutions × 2 pivot rules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= 8 algorithms, applied to every instance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640080" y="498348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8</a:t>
            </a:r>
          </a:p>
        </p:txBody>
      </p:sp>
      <p:sp>
        <p:nvSpPr>
          <p:cNvPr id="8" name="Stat label 8"/>
          <p:cNvSpPr txBox="1"/>
          <p:nvPr/>
        </p:nvSpPr>
        <p:spPr>
          <a:xfrm>
            <a:off x="1920240" y="498348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algorithms: CH1, CH2,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CH3, CH1+RE as start,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each with FI and BI</a:t>
            </a:r>
          </a:p>
        </p:txBody>
      </p:sp>
      <p:sp>
        <p:nvSpPr>
          <p:cNvPr id="9" name="Stat 9"/>
          <p:cNvSpPr txBox="1"/>
          <p:nvPr/>
        </p:nvSpPr>
        <p:spPr>
          <a:xfrm>
            <a:off x="4434840" y="498348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42</a:t>
            </a:r>
          </a:p>
        </p:txBody>
      </p:sp>
      <p:sp>
        <p:nvSpPr>
          <p:cNvPr id="10" name="Stat label 10"/>
          <p:cNvSpPr txBox="1"/>
          <p:nvPr/>
        </p:nvSpPr>
        <p:spPr>
          <a:xfrm>
            <a:off x="5715000" y="498348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OR-Library instances,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one run each,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same seed for FI and BI</a:t>
            </a:r>
          </a:p>
        </p:txBody>
      </p:sp>
      <p:sp>
        <p:nvSpPr>
          <p:cNvPr id="11" name="Stat 11"/>
          <p:cNvSpPr txBox="1"/>
          <p:nvPr/>
        </p:nvSpPr>
        <p:spPr>
          <a:xfrm>
            <a:off x="8229600" y="498348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12" name="Stat label 12"/>
          <p:cNvSpPr txBox="1"/>
          <p:nvPr/>
        </p:nvSpPr>
        <p:spPr>
          <a:xfrm>
            <a:off x="9509760" y="498348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neighbourhood: drop a set,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repair greedily, RE after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every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301658" y="411480"/>
            <a:ext cx="1189034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From Assignment 1 - Three dynamic constructive heuristics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The purpose was to create three different constructive strategies with increasing use of information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B6B70"/>
                </a:solidFill>
                <a:latin typeface="Calibri"/>
                <a:cs typeface="Calibri"/>
              </a:rPr>
              <a:t>In each CH, e</a:t>
            </a: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very step added one set; scores were recomputed from the current partial solution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0" dirty="0">
              <a:solidFill>
                <a:srgbClr val="5B6B70"/>
              </a:solidFill>
              <a:latin typeface="Calibri"/>
              <a:cs typeface="Calibri"/>
            </a:endParaRPr>
          </a:p>
        </p:txBody>
      </p:sp>
      <p:sp>
        <p:nvSpPr>
          <p:cNvPr id="5" name="Card 5"/>
          <p:cNvSpPr txBox="1"/>
          <p:nvPr/>
        </p:nvSpPr>
        <p:spPr>
          <a:xfrm>
            <a:off x="54864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Badge 6"/>
          <p:cNvSpPr txBox="1"/>
          <p:nvPr/>
        </p:nvSpPr>
        <p:spPr>
          <a:xfrm>
            <a:off x="77724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9AA0A6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CH1</a:t>
            </a:r>
          </a:p>
        </p:txBody>
      </p:sp>
      <p:sp>
        <p:nvSpPr>
          <p:cNvPr id="7" name="Card head 7"/>
          <p:cNvSpPr txBox="1"/>
          <p:nvPr/>
        </p:nvSpPr>
        <p:spPr>
          <a:xfrm>
            <a:off x="77724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Random element, random set</a:t>
            </a:r>
          </a:p>
        </p:txBody>
      </p:sp>
      <p:sp>
        <p:nvSpPr>
          <p:cNvPr id="8" name="Card body 8"/>
          <p:cNvSpPr txBox="1"/>
          <p:nvPr/>
        </p:nvSpPr>
        <p:spPr>
          <a:xfrm>
            <a:off x="777240" y="3017520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Pick a random uncovered element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a random set that covers it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1B2A2F"/>
                </a:solidFill>
                <a:latin typeface="Calibri"/>
                <a:cs typeface="Calibri"/>
              </a:rPr>
              <a:t>R</a:t>
            </a: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epeat until all elements are covered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Does not use optimization of the cost/coverage ratio to select</a:t>
            </a:r>
          </a:p>
        </p:txBody>
      </p:sp>
      <p:sp>
        <p:nvSpPr>
          <p:cNvPr id="9" name="Card foot 9"/>
          <p:cNvSpPr txBox="1"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The baseline – Deliberate Randomness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434340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1" name="Badge 11"/>
          <p:cNvSpPr txBox="1"/>
          <p:nvPr/>
        </p:nvSpPr>
        <p:spPr>
          <a:xfrm>
            <a:off x="457200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E8873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CH2</a:t>
            </a:r>
          </a:p>
        </p:txBody>
      </p:sp>
      <p:sp>
        <p:nvSpPr>
          <p:cNvPr id="12" name="Card head 12"/>
          <p:cNvSpPr txBox="1"/>
          <p:nvPr/>
        </p:nvSpPr>
        <p:spPr>
          <a:xfrm>
            <a:off x="457200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Random element, best set</a:t>
            </a:r>
          </a:p>
        </p:txBody>
      </p:sp>
      <p:sp>
        <p:nvSpPr>
          <p:cNvPr id="13" name="Card body 13"/>
          <p:cNvSpPr txBox="1"/>
          <p:nvPr/>
        </p:nvSpPr>
        <p:spPr>
          <a:xfrm>
            <a:off x="4480560" y="3017520"/>
            <a:ext cx="338328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Pick a random uncovered element (CH1)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the covering set with the lowest cost per new additional element added (cost ÷ newly covered elements)</a:t>
            </a:r>
          </a:p>
        </p:txBody>
      </p:sp>
      <p:sp>
        <p:nvSpPr>
          <p:cNvPr id="14" name="Card foot 14"/>
          <p:cNvSpPr txBox="1"/>
          <p:nvPr/>
        </p:nvSpPr>
        <p:spPr>
          <a:xfrm>
            <a:off x="4480560" y="4539996"/>
            <a:ext cx="3108960" cy="7178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It keeps randomness (choice of uncovered element) BUT it adds an Element-driven greedy criterion </a:t>
            </a:r>
            <a:r>
              <a:rPr lang="en-US" sz="1400" i="1" dirty="0">
                <a:solidFill>
                  <a:srgbClr val="5B6B70"/>
                </a:solidFill>
                <a:latin typeface="Calibri"/>
                <a:cs typeface="Calibri"/>
              </a:rPr>
              <a:t>for the set selection</a:t>
            </a:r>
            <a:endParaRPr lang="en-US" sz="1400" b="0" i="1" dirty="0">
              <a:solidFill>
                <a:srgbClr val="5B6B70"/>
              </a:solidFill>
              <a:latin typeface="Calibri"/>
              <a:cs typeface="Calibri"/>
            </a:endParaRPr>
          </a:p>
        </p:txBody>
      </p:sp>
      <p:sp>
        <p:nvSpPr>
          <p:cNvPr id="15" name="Card 15"/>
          <p:cNvSpPr txBox="1"/>
          <p:nvPr/>
        </p:nvSpPr>
        <p:spPr>
          <a:xfrm>
            <a:off x="813816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6" name="Badge 16"/>
          <p:cNvSpPr txBox="1"/>
          <p:nvPr/>
        </p:nvSpPr>
        <p:spPr>
          <a:xfrm>
            <a:off x="836676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1F6F78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CH3</a:t>
            </a:r>
          </a:p>
        </p:txBody>
      </p:sp>
      <p:sp>
        <p:nvSpPr>
          <p:cNvPr id="17" name="Card head 17"/>
          <p:cNvSpPr txBox="1"/>
          <p:nvPr/>
        </p:nvSpPr>
        <p:spPr>
          <a:xfrm>
            <a:off x="836676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Best set overall</a:t>
            </a:r>
          </a:p>
        </p:txBody>
      </p:sp>
      <p:sp>
        <p:nvSpPr>
          <p:cNvPr id="18" name="Card body 18"/>
          <p:cNvSpPr txBox="1"/>
          <p:nvPr/>
        </p:nvSpPr>
        <p:spPr>
          <a:xfrm>
            <a:off x="8373359" y="2807208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Look at every candidate set that still covers something new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the one with the lowest cost per new additional element added (cost ÷ newly covered elements)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In comparison </a:t>
            </a:r>
            <a:r>
              <a:rPr lang="en-US" sz="1500" dirty="0">
                <a:solidFill>
                  <a:srgbClr val="1B2A2F"/>
                </a:solidFill>
                <a:latin typeface="Calibri"/>
                <a:cs typeface="Calibri"/>
              </a:rPr>
              <a:t>to CH2, the</a:t>
            </a: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 difference is where the choice starts -&gt; CH3 is more globally greedy</a:t>
            </a:r>
          </a:p>
        </p:txBody>
      </p:sp>
      <p:sp>
        <p:nvSpPr>
          <p:cNvPr id="19" name="Card foot 19"/>
          <p:cNvSpPr txBox="1"/>
          <p:nvPr/>
        </p:nvSpPr>
        <p:spPr>
          <a:xfrm>
            <a:off x="8373359" y="4817615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Chvátal’s greedy rule element</a:t>
            </a:r>
          </a:p>
        </p:txBody>
      </p:sp>
      <p:sp>
        <p:nvSpPr>
          <p:cNvPr id="20" name="Note 20"/>
          <p:cNvSpPr txBox="1"/>
          <p:nvPr/>
        </p:nvSpPr>
        <p:spPr>
          <a:xfrm>
            <a:off x="548640" y="5468112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Dynamic bookkeeping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Adding a set updates the uncovered list and the “still uncovered” count of every affected set – only what changed is touched. A set with nothing new to cover is not considered for the candidate list, so no fully redundant set is ever added.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One neighbourhood, two pivot rules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Both algorithms move between minimal covers: redundancy elimination (RE) is applied after every step.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737360"/>
            <a:ext cx="5394960" cy="3520440"/>
          </a:xfrm>
          <a:prstGeom prst="roundRect">
            <a:avLst>
              <a:gd name="adj" fmla="val 35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Card head 6"/>
          <p:cNvSpPr txBox="1"/>
          <p:nvPr/>
        </p:nvSpPr>
        <p:spPr>
          <a:xfrm>
            <a:off x="777240" y="18745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Neighbourhood: drop and repair</a:t>
            </a:r>
          </a:p>
        </p:txBody>
      </p:sp>
      <p:sp>
        <p:nvSpPr>
          <p:cNvPr id="7" name="Step 7"/>
          <p:cNvSpPr txBox="1"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8" name="Step text 8"/>
          <p:cNvSpPr txBox="1"/>
          <p:nvPr/>
        </p:nvSpPr>
        <p:spPr>
          <a:xfrm>
            <a:off x="1371600" y="2404872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2A2F"/>
                </a:solidFill>
                <a:latin typeface="Calibri"/>
                <a:cs typeface="Calibri"/>
              </a:rPr>
              <a:t>Drop  </a:t>
            </a: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remove one selected set j; its elements covered only by j become uncovered</a:t>
            </a:r>
          </a:p>
        </p:txBody>
      </p:sp>
      <p:sp>
        <p:nvSpPr>
          <p:cNvPr id="9" name="Step 9"/>
          <p:cNvSpPr txBox="1"/>
          <p:nvPr/>
        </p:nvSpPr>
        <p:spPr>
          <a:xfrm>
            <a:off x="777240" y="3182112"/>
            <a:ext cx="457200" cy="457200"/>
          </a:xfrm>
          <a:prstGeom prst="ellipse">
            <a:avLst/>
          </a:prstGeom>
          <a:solidFill>
            <a:srgbClr val="E8873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0" name="Step text 10"/>
          <p:cNvSpPr txBox="1"/>
          <p:nvPr/>
        </p:nvSpPr>
        <p:spPr>
          <a:xfrm>
            <a:off x="1371600" y="3118104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2A2F"/>
                </a:solidFill>
                <a:latin typeface="Calibri"/>
                <a:cs typeface="Calibri"/>
              </a:rPr>
              <a:t>Repair  </a:t>
            </a: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cover them again with the greedy ratio rule of CH3 (set j forbidden)</a:t>
            </a:r>
          </a:p>
        </p:txBody>
      </p:sp>
      <p:sp>
        <p:nvSpPr>
          <p:cNvPr id="11" name="Step 11"/>
          <p:cNvSpPr txBox="1"/>
          <p:nvPr/>
        </p:nvSpPr>
        <p:spPr>
          <a:xfrm>
            <a:off x="777240" y="3895344"/>
            <a:ext cx="457200" cy="45720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2" name="Step text 12"/>
          <p:cNvSpPr txBox="1"/>
          <p:nvPr/>
        </p:nvSpPr>
        <p:spPr>
          <a:xfrm>
            <a:off x="1371600" y="3831336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2A2F"/>
                </a:solidFill>
                <a:latin typeface="Calibri"/>
                <a:cs typeface="Calibri"/>
              </a:rPr>
              <a:t>RE  </a:t>
            </a: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remove sets that the repair made redundant</a:t>
            </a:r>
          </a:p>
        </p:txBody>
      </p:sp>
      <p:sp>
        <p:nvSpPr>
          <p:cNvPr id="13" name="Note 13"/>
          <p:cNvSpPr txBox="1"/>
          <p:nvPr/>
        </p:nvSpPr>
        <p:spPr>
          <a:xfrm>
            <a:off x="777240" y="457200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5B6B70"/>
                </a:solidFill>
                <a:latin typeface="Calibri"/>
                <a:cs typeface="Calibri"/>
              </a:rPr>
              <a:t>|N(S)| = number of selected sets. Every neighbour is a feasible, minimal cover.</a:t>
            </a:r>
          </a:p>
        </p:txBody>
      </p:sp>
      <p:sp>
        <p:nvSpPr>
          <p:cNvPr id="14" name="Card 14"/>
          <p:cNvSpPr txBox="1"/>
          <p:nvPr/>
        </p:nvSpPr>
        <p:spPr>
          <a:xfrm>
            <a:off x="6217920" y="173736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5" name="Badge 15"/>
          <p:cNvSpPr txBox="1"/>
          <p:nvPr/>
        </p:nvSpPr>
        <p:spPr>
          <a:xfrm>
            <a:off x="6446520" y="1901952"/>
            <a:ext cx="731520" cy="384048"/>
          </a:xfrm>
          <a:prstGeom prst="roundRect">
            <a:avLst>
              <a:gd name="adj" fmla="val 30000"/>
            </a:avLst>
          </a:prstGeom>
          <a:solidFill>
            <a:srgbClr val="E8873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FI</a:t>
            </a:r>
          </a:p>
        </p:txBody>
      </p:sp>
      <p:sp>
        <p:nvSpPr>
          <p:cNvPr id="16" name="Card head 16"/>
          <p:cNvSpPr txBox="1"/>
          <p:nvPr/>
        </p:nvSpPr>
        <p:spPr>
          <a:xfrm>
            <a:off x="7315200" y="187452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B2A2F"/>
                </a:solidFill>
                <a:latin typeface="Cambria"/>
                <a:cs typeface="Cambria"/>
              </a:rPr>
              <a:t>First improvement</a:t>
            </a:r>
          </a:p>
        </p:txBody>
      </p:sp>
      <p:sp>
        <p:nvSpPr>
          <p:cNvPr id="17" name="Card body 17"/>
          <p:cNvSpPr txBox="1"/>
          <p:nvPr/>
        </p:nvSpPr>
        <p:spPr>
          <a:xfrm>
            <a:off x="6446520" y="24231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Scan the selected sets in random order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Accept the first strictly better neighbour, then rescan</a:t>
            </a:r>
          </a:p>
        </p:txBody>
      </p:sp>
      <p:sp>
        <p:nvSpPr>
          <p:cNvPr id="18" name="Card 18"/>
          <p:cNvSpPr txBox="1"/>
          <p:nvPr/>
        </p:nvSpPr>
        <p:spPr>
          <a:xfrm>
            <a:off x="6217920" y="356616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9" name="Badge 19"/>
          <p:cNvSpPr txBox="1"/>
          <p:nvPr/>
        </p:nvSpPr>
        <p:spPr>
          <a:xfrm>
            <a:off x="6446520" y="3730752"/>
            <a:ext cx="731520" cy="384048"/>
          </a:xfrm>
          <a:prstGeom prst="roundRect">
            <a:avLst>
              <a:gd name="adj" fmla="val 30000"/>
            </a:avLst>
          </a:prstGeom>
          <a:solidFill>
            <a:srgbClr val="1F6F78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</a:p>
        </p:txBody>
      </p:sp>
      <p:sp>
        <p:nvSpPr>
          <p:cNvPr id="20" name="Card head 20"/>
          <p:cNvSpPr txBox="1"/>
          <p:nvPr/>
        </p:nvSpPr>
        <p:spPr>
          <a:xfrm>
            <a:off x="7315200" y="370332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B2A2F"/>
                </a:solidFill>
                <a:latin typeface="Cambria"/>
                <a:cs typeface="Cambria"/>
              </a:rPr>
              <a:t>Best improvement</a:t>
            </a:r>
          </a:p>
        </p:txBody>
      </p:sp>
      <p:sp>
        <p:nvSpPr>
          <p:cNvPr id="21" name="Card body 21"/>
          <p:cNvSpPr txBox="1"/>
          <p:nvPr/>
        </p:nvSpPr>
        <p:spPr>
          <a:xfrm>
            <a:off x="6446520" y="42519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Evaluate the whole neighbourhood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Accept the best neighbour, if strictly better</a:t>
            </a:r>
          </a:p>
        </p:txBody>
      </p:sp>
      <p:sp>
        <p:nvSpPr>
          <p:cNvPr id="22" name="Note 22"/>
          <p:cNvSpPr txBox="1"/>
          <p:nvPr/>
        </p:nvSpPr>
        <p:spPr>
          <a:xfrm>
            <a:off x="548640" y="5468112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Protocol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FI and BI run from the same seed, so they start from the identical initial solution (variance reduction, paired comparison). Tried moves are applied and undone incrementally from a log – no state is ever copied. Both stop in a local optimum.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Results: the eight algorithms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42 instances, one run each, same seed. Deviation from the best known solutions.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737360"/>
          <a:ext cx="7040880" cy="41148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Initial dev.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 dev.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LS time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2297 %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3.53 %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2297 %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4.17 %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23.6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19.45 %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3.86 %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19.45 %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13.05 %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2.86 %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1.4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13.05 %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2.63 %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1756 %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1756 %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3.75 %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Legend 6"/>
          <p:cNvSpPr txBox="1"/>
          <p:nvPr/>
        </p:nvSpPr>
        <p:spPr>
          <a:xfrm>
            <a:off x="548640" y="5943600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6B70"/>
                </a:solidFill>
                <a:latin typeface="Calibri"/>
                <a:cs typeface="Calibri"/>
              </a:rPr>
              <a:t>Dev. = average % deviation from the best known; Profit = instances improved by the local search; LS time = total over all instances.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8001000" y="1737360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8" name="Card big 8"/>
          <p:cNvSpPr txBox="1"/>
          <p:nvPr/>
        </p:nvSpPr>
        <p:spPr>
          <a:xfrm>
            <a:off x="8183880" y="181051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F6F78"/>
                </a:solidFill>
                <a:latin typeface="Cambria"/>
                <a:cs typeface="Cambria"/>
              </a:rPr>
              <a:t>42 / 42</a:t>
            </a:r>
          </a:p>
        </p:txBody>
      </p:sp>
      <p:sp>
        <p:nvSpPr>
          <p:cNvPr id="9" name="Card label 9"/>
          <p:cNvSpPr txBox="1"/>
          <p:nvPr/>
        </p:nvSpPr>
        <p:spPr>
          <a:xfrm>
            <a:off x="8183880" y="237744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instances profit from the local search, for every one of the eight algorithms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8001000" y="3154680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1" name="Card big 11"/>
          <p:cNvSpPr txBox="1"/>
          <p:nvPr/>
        </p:nvSpPr>
        <p:spPr>
          <a:xfrm>
            <a:off x="8183880" y="322783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F6F78"/>
                </a:solidFill>
                <a:latin typeface="Cambria"/>
                <a:cs typeface="Cambria"/>
              </a:rPr>
              <a:t>2.63 %</a:t>
            </a:r>
          </a:p>
        </p:txBody>
      </p:sp>
      <p:sp>
        <p:nvSpPr>
          <p:cNvPr id="12" name="Card label 12"/>
          <p:cNvSpPr txBox="1"/>
          <p:nvPr/>
        </p:nvSpPr>
        <p:spPr>
          <a:xfrm>
            <a:off x="8183880" y="379476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lowest average deviation: CH3 + BI</a:t>
            </a:r>
          </a:p>
        </p:txBody>
      </p:sp>
      <p:sp>
        <p:nvSpPr>
          <p:cNvPr id="13" name="Card 13"/>
          <p:cNvSpPr txBox="1"/>
          <p:nvPr/>
        </p:nvSpPr>
        <p:spPr>
          <a:xfrm>
            <a:off x="8001000" y="4572000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4" name="Card big 14"/>
          <p:cNvSpPr txBox="1"/>
          <p:nvPr/>
        </p:nvSpPr>
        <p:spPr>
          <a:xfrm>
            <a:off x="8183880" y="464515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E8873A"/>
                </a:solidFill>
                <a:latin typeface="Cambria"/>
                <a:cs typeface="Cambria"/>
              </a:rPr>
              <a:t>1.4 s</a:t>
            </a:r>
          </a:p>
        </p:txBody>
      </p:sp>
      <p:sp>
        <p:nvSpPr>
          <p:cNvPr id="15" name="Card label 15"/>
          <p:cNvSpPr txBox="1"/>
          <p:nvPr/>
        </p:nvSpPr>
        <p:spPr>
          <a:xfrm>
            <a:off x="8183880" y="521208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fastest: CH3 + FI (2.86 % deviation)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First vs. best improvement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Same start, same neighbourhood: BI takes few expensive steps, FI many cheap ones.</a:t>
            </a:r>
          </a:p>
        </p:txBody>
      </p:sp>
      <p:pic>
        <p:nvPicPr>
          <p:cNvPr id="5" name="Convergence" descr="Cost against evaluated neighbours for FI and BI on instance scpa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035040" cy="29337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812280" y="1737360"/>
          <a:ext cx="4800600" cy="2286000"/>
        </p:xfrm>
        <a:graphic>
          <a:graphicData uri="http://schemas.openxmlformats.org/drawingml/2006/table">
            <a:tbl>
              <a:tblPr firstRow="1"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Start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 /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3.53 %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4.17 %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23.6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7.6×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3.86 %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2.6×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2.86 %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2.63 %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2.3×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3.75 %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7.3×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ard 7"/>
          <p:cNvSpPr txBox="1"/>
          <p:nvPr/>
        </p:nvSpPr>
        <p:spPr>
          <a:xfrm>
            <a:off x="548640" y="45720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1F6F78"/>
                </a:solidFill>
                <a:latin typeface="Cambria"/>
                <a:cs typeface="Cambria"/>
              </a:rPr>
              <a:t>Time follows evaluations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BI evaluates the whole neighbourhood every step (65–86 neighbours), FI stops at the first improvement (5–24). An evaluation costs about 0.26 ms either way, so BI is 2.3–7.6× slower.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4343400" y="45720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1F6F78"/>
                </a:solidFill>
                <a:latin typeface="Cambria"/>
                <a:cs typeface="Cambria"/>
              </a:rPr>
              <a:t>Quality: no clear winner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BI is better only from CH3 (2.63 % vs. 2.86 %), and there in 5 of 5 seeds. From the other starts neither rule wins consistently; no FI/BI difference is significant at 5 % (Wilcoxon p &gt; 0.05).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8138160" y="45720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1F6F78"/>
                </a:solidFill>
                <a:latin typeface="Cambria"/>
                <a:cs typeface="Cambria"/>
              </a:rPr>
              <a:t>Why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Both rules end in local optima of similar quality, but FI gets there with a fraction of the evaluations: the curves show the same descent, only the effort differs. The steepest first step of BI does not pay 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Computation time statistics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Local-search time per instance (42 instances); the spread over 5 seeds in the last column.</a:t>
            </a:r>
          </a:p>
        </p:txBody>
      </p:sp>
      <p:pic>
        <p:nvPicPr>
          <p:cNvPr id="5" name="Trade-off" descr="Total local-search time against average deviation for the eight algorith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4754880" cy="3003082"/>
          </a:xfrm>
          <a:prstGeom prst="rect">
            <a:avLst/>
          </a:prstGeom>
        </p:spPr>
      </p:pic>
      <p:sp>
        <p:nvSpPr>
          <p:cNvPr id="6" name="Legend 6"/>
          <p:cNvSpPr txBox="1"/>
          <p:nvPr/>
        </p:nvSpPr>
        <p:spPr>
          <a:xfrm>
            <a:off x="548640" y="468172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5B6B70"/>
                </a:solidFill>
                <a:latin typeface="Calibri"/>
                <a:cs typeface="Calibri"/>
              </a:rPr>
              <a:t>Black edge: not dominated by any other algorithm. Orange = FI, teal = BI.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897880" y="1691640"/>
          <a:ext cx="5715000" cy="3044952"/>
        </p:xfrm>
        <a:graphic>
          <a:graphicData uri="http://schemas.openxmlformats.org/drawingml/2006/table">
            <a:tbl>
              <a:tblPr firstRow="1"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Median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Max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σ (5 seeds)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75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69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23.6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563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576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1322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0.32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0.08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CH3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34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84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0.05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CH3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64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0.21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76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71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231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556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562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1343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Legend 8"/>
          <p:cNvSpPr txBox="1"/>
          <p:nvPr/>
        </p:nvSpPr>
        <p:spPr>
          <a:xfrm>
            <a:off x="5897880" y="4828032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5B6B70"/>
                </a:solidFill>
                <a:latin typeface="Calibri"/>
                <a:cs typeface="Calibri"/>
              </a:rPr>
              <a:t>Mean / median / max: per instance. Orange names: the non-dominated algorithms.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548640" y="5285232"/>
            <a:ext cx="3520440" cy="132588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Two algorithms matter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CH3 + FI and CH3 + BI are the only non-dominated ones: every other algorithm is both slower and worse than one of them.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4343400" y="5285232"/>
            <a:ext cx="3520440" cy="132588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Time = evaluations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Local-search time is proportional to the number of evaluated neighbours (Spearman ρ ≥ 0.96 for all eight). One evaluation costs 0.18–0.32 ms; the construction is at most 4.8 % of the total time.</a:t>
            </a:r>
          </a:p>
        </p:txBody>
      </p:sp>
      <p:sp>
        <p:nvSpPr>
          <p:cNvPr id="11" name="Card 11"/>
          <p:cNvSpPr txBox="1"/>
          <p:nvPr/>
        </p:nvSpPr>
        <p:spPr>
          <a:xfrm>
            <a:off x="8138160" y="5285232"/>
            <a:ext cx="3520440" cy="132588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Stable, not size-driven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Time varies by at most 7 % across seeds. It is only weakly related to the instance size m·n (ρ = 0.02–0.30): the number of steps decides. The slowest instance lies in set C for 7 of 8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The initial solution and what remains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Average deviation before and after the local search.</a:t>
            </a:r>
          </a:p>
        </p:txBody>
      </p:sp>
      <p:pic>
        <p:nvPicPr>
          <p:cNvPr id="5" name="Initial vs final" descr="Deviation of the initial solution and after FI and BI for each st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669280" cy="3543300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6492240" y="1691640"/>
            <a:ext cx="5120640" cy="109728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7" name="Card big 7"/>
          <p:cNvSpPr txBox="1"/>
          <p:nvPr/>
        </p:nvSpPr>
        <p:spPr>
          <a:xfrm>
            <a:off x="6675120" y="17373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F6F78"/>
                </a:solidFill>
                <a:latin typeface="Cambria"/>
                <a:cs typeface="Cambria"/>
              </a:rPr>
              <a:t>13–2297 % → 2.6–4.5 %</a:t>
            </a:r>
          </a:p>
        </p:txBody>
      </p:sp>
      <p:sp>
        <p:nvSpPr>
          <p:cNvPr id="8" name="Card label 8"/>
          <p:cNvSpPr txBox="1"/>
          <p:nvPr/>
        </p:nvSpPr>
        <p:spPr>
          <a:xfrm>
            <a:off x="6675120" y="214884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The search closes almost the whole gap, but the start still matters: CH3 ends significantly better than CH2 and CH1+RE (p &lt; 0.01).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6492240" y="2907792"/>
            <a:ext cx="5120640" cy="109728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0" name="Card big 10"/>
          <p:cNvSpPr txBox="1"/>
          <p:nvPr/>
        </p:nvSpPr>
        <p:spPr>
          <a:xfrm>
            <a:off x="6675120" y="295351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E8873A"/>
                </a:solidFill>
                <a:latin typeface="Cambria"/>
                <a:cs typeface="Cambria"/>
              </a:rPr>
              <a:t>CH1 ≈ CH1+RE</a:t>
            </a:r>
          </a:p>
        </p:txBody>
      </p:sp>
      <p:sp>
        <p:nvSpPr>
          <p:cNvPr id="11" name="Card label 11"/>
          <p:cNvSpPr txBox="1"/>
          <p:nvPr/>
        </p:nvSpPr>
        <p:spPr>
          <a:xfrm>
            <a:off x="6675120" y="336499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RE after every step cleans the start anyway, so no consistent difference. For CH3, RE alone gives 13.0 → 6.5 %; the moves add the rest.</a:t>
            </a:r>
          </a:p>
        </p:txBody>
      </p:sp>
      <p:sp>
        <p:nvSpPr>
          <p:cNvPr id="12" name="Card 12"/>
          <p:cNvSpPr txBox="1"/>
          <p:nvPr/>
        </p:nvSpPr>
        <p:spPr>
          <a:xfrm>
            <a:off x="6492240" y="4123944"/>
            <a:ext cx="5120640" cy="109728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3" name="Card big 13"/>
          <p:cNvSpPr txBox="1"/>
          <p:nvPr/>
        </p:nvSpPr>
        <p:spPr>
          <a:xfrm>
            <a:off x="6675120" y="4169664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F6F78"/>
                </a:solidFill>
                <a:latin typeface="Cambria"/>
                <a:cs typeface="Cambria"/>
              </a:rPr>
              <a:t>2.6–2.9 % left</a:t>
            </a:r>
          </a:p>
        </p:txBody>
      </p:sp>
      <p:sp>
        <p:nvSpPr>
          <p:cNvPr id="14" name="Card label 14"/>
          <p:cNvSpPr txBox="1"/>
          <p:nvPr/>
        </p:nvSpPr>
        <p:spPr>
          <a:xfrm>
            <a:off x="6675120" y="4581144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One drop-and-repair neighbourhood stalls in local optima – the case for metaheuristics.</a:t>
            </a:r>
          </a:p>
        </p:txBody>
      </p:sp>
      <p:sp>
        <p:nvSpPr>
          <p:cNvPr id="15" name="Takeaway 15"/>
          <p:cNvSpPr txBox="1"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F3A40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Recommendation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CH3 + FI is the best quality per time (2.86 %, 1.4 s); CH3 + BI gives the best quality (2.63 %). A good constructive start saves most of the search effort.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2F"/>
      </a:dk1>
      <a:lt1>
        <a:srgbClr val="FFFFFF"/>
      </a:lt1>
      <a:dk2>
        <a:srgbClr val="0F3A40"/>
      </a:dk2>
      <a:lt2>
        <a:srgbClr val="EEF4F5"/>
      </a:lt2>
      <a:accent1>
        <a:srgbClr val="1F6F78"/>
      </a:accent1>
      <a:accent2>
        <a:srgbClr val="E8873A"/>
      </a:accent2>
      <a:accent3>
        <a:srgbClr val="9AA0A6"/>
      </a:accent3>
      <a:accent4>
        <a:srgbClr val="17505A"/>
      </a:accent4>
      <a:accent5>
        <a:srgbClr val="BFD8DB"/>
      </a:accent5>
      <a:accent6>
        <a:srgbClr val="5B6B70"/>
      </a:accent6>
      <a:hlink>
        <a:srgbClr val="1F6F78"/>
      </a:hlink>
      <a:folHlink>
        <a:srgbClr val="5B6B70"/>
      </a:folHlink>
    </a:clrScheme>
    <a:fontScheme name="SC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S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1365</Words>
  <Application>Microsoft Office PowerPoint</Application>
  <PresentationFormat>Ecrã Panorâmico</PresentationFormat>
  <Paragraphs>227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SCP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Improvement heuristics for the Set Covering Problem</dc:title>
  <dc:creator/>
  <cp:lastModifiedBy>Artur Miguel</cp:lastModifiedBy>
  <cp:revision>2</cp:revision>
  <dcterms:modified xsi:type="dcterms:W3CDTF">2026-10-09T20:28:50Z</dcterms:modified>
</cp:coreProperties>
</file>