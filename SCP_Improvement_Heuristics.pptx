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conv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tradeoff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ini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Improvement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2  ·  Heuristic Optimization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3794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Improve a constructed cover by iterative improvement, with first and best improvement.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mbria"/>
                <a:cs typeface="Cambria"/>
              </a:rPr>
              <a:t>4 initial solutions × 2 pivot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= 8 algorithms, applied to every instance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8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192024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algorithms: CH1, CH2,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CH3, CH1+RE as start,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each with FI and BI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571500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instances,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one run each,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same seed for FI and BI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950976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neighbourhood: drop a set,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repair greedily, RE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every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One neighbourhood, two pivot rules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Both algorithms move between minimal covers: redundancy elimination (RE) is applied after every step.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5394960" cy="3520440"/>
          </a:xfrm>
          <a:prstGeom prst="roundRect">
            <a:avLst>
              <a:gd name="adj" fmla="val 35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Card head 6"/>
          <p:cNvSpPr txBox="1"/>
          <p:nvPr/>
        </p:nvSpPr>
        <p:spPr>
          <a:xfrm>
            <a:off x="777240" y="18745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Neighbourhood: drop and repair</a:t>
            </a:r>
          </a:p>
        </p:txBody>
      </p:sp>
      <p:sp>
        <p:nvSpPr>
          <p:cNvPr id="7" name="Step 7"/>
          <p:cNvSpPr txBox="1"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8" name="Step text 8"/>
          <p:cNvSpPr txBox="1"/>
          <p:nvPr/>
        </p:nvSpPr>
        <p:spPr>
          <a:xfrm>
            <a:off x="1371600" y="240487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Drop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one selected set j; its elements covered only by j become uncovered</a:t>
            </a:r>
          </a:p>
        </p:txBody>
      </p:sp>
      <p:sp>
        <p:nvSpPr>
          <p:cNvPr id="9" name="Step 9"/>
          <p:cNvSpPr txBox="1"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Step text 10"/>
          <p:cNvSpPr txBox="1"/>
          <p:nvPr/>
        </p:nvSpPr>
        <p:spPr>
          <a:xfrm>
            <a:off x="1371600" y="3118104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Repair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cover them again with the greedy ratio rule of CH3 (set j forbidden)</a:t>
            </a:r>
          </a:p>
        </p:txBody>
      </p:sp>
      <p:sp>
        <p:nvSpPr>
          <p:cNvPr id="11" name="Step 11"/>
          <p:cNvSpPr txBox="1"/>
          <p:nvPr/>
        </p:nvSpPr>
        <p:spPr>
          <a:xfrm>
            <a:off x="777240" y="3895344"/>
            <a:ext cx="457200" cy="45720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2" name="Step text 12"/>
          <p:cNvSpPr txBox="1"/>
          <p:nvPr/>
        </p:nvSpPr>
        <p:spPr>
          <a:xfrm>
            <a:off x="1371600" y="3831336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sets that the repair made redundant</a:t>
            </a:r>
          </a:p>
        </p:txBody>
      </p:sp>
      <p:sp>
        <p:nvSpPr>
          <p:cNvPr id="13" name="Note 13"/>
          <p:cNvSpPr txBox="1"/>
          <p:nvPr/>
        </p:nvSpPr>
        <p:spPr>
          <a:xfrm>
            <a:off x="777240" y="45720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B6B70"/>
                </a:solidFill>
                <a:latin typeface="Calibri"/>
                <a:cs typeface="Calibri"/>
              </a:rPr>
              <a:t>|N(S)| = number of selected sets. Every neighbour is a feasible, minimal cover.</a:t>
            </a:r>
          </a:p>
        </p:txBody>
      </p:sp>
      <p:sp>
        <p:nvSpPr>
          <p:cNvPr id="14" name="Card 14"/>
          <p:cNvSpPr txBox="1"/>
          <p:nvPr/>
        </p:nvSpPr>
        <p:spPr>
          <a:xfrm>
            <a:off x="6217920" y="17373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Badge 15"/>
          <p:cNvSpPr txBox="1"/>
          <p:nvPr/>
        </p:nvSpPr>
        <p:spPr>
          <a:xfrm>
            <a:off x="6446520" y="19019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</a:p>
        </p:txBody>
      </p:sp>
      <p:sp>
        <p:nvSpPr>
          <p:cNvPr id="16" name="Card head 16"/>
          <p:cNvSpPr txBox="1"/>
          <p:nvPr/>
        </p:nvSpPr>
        <p:spPr>
          <a:xfrm>
            <a:off x="7315200" y="18745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First improvement</a:t>
            </a:r>
          </a:p>
        </p:txBody>
      </p:sp>
      <p:sp>
        <p:nvSpPr>
          <p:cNvPr id="17" name="Card body 17"/>
          <p:cNvSpPr txBox="1"/>
          <p:nvPr/>
        </p:nvSpPr>
        <p:spPr>
          <a:xfrm>
            <a:off x="6446520" y="24231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Scan the selected sets in random order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first strictly better neighbour, then rescan</a:t>
            </a:r>
          </a:p>
        </p:txBody>
      </p:sp>
      <p:sp>
        <p:nvSpPr>
          <p:cNvPr id="18" name="Card 18"/>
          <p:cNvSpPr txBox="1"/>
          <p:nvPr/>
        </p:nvSpPr>
        <p:spPr>
          <a:xfrm>
            <a:off x="6217920" y="3566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9" name="Badge 19"/>
          <p:cNvSpPr txBox="1"/>
          <p:nvPr/>
        </p:nvSpPr>
        <p:spPr>
          <a:xfrm>
            <a:off x="6446520" y="37307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</a:p>
        </p:txBody>
      </p:sp>
      <p:sp>
        <p:nvSpPr>
          <p:cNvPr id="20" name="Card head 20"/>
          <p:cNvSpPr txBox="1"/>
          <p:nvPr/>
        </p:nvSpPr>
        <p:spPr>
          <a:xfrm>
            <a:off x="7315200" y="37033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Best improvement</a:t>
            </a:r>
          </a:p>
        </p:txBody>
      </p:sp>
      <p:sp>
        <p:nvSpPr>
          <p:cNvPr id="21" name="Card body 21"/>
          <p:cNvSpPr txBox="1"/>
          <p:nvPr/>
        </p:nvSpPr>
        <p:spPr>
          <a:xfrm>
            <a:off x="6446520" y="42519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Evaluate the whole neighbourhood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best neighbour, if strictly better</a:t>
            </a:r>
          </a:p>
        </p:txBody>
      </p:sp>
      <p:sp>
        <p:nvSpPr>
          <p:cNvPr id="22" name="Note 22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Protocol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FI and BI run from the same seed, so they start from the identical initial solution (variance reduction, paired comparison). Tried moves are applied and undone incrementally from a log – no state is ever copied. Both stop in a local optimum.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the eight algorithms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each, same seed. Deviation from the best known solutions.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37360"/>
          <a:ext cx="7040880" cy="411480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1371600"/>
                <a:gridCol w="128016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Initial dev.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 dev.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LS time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59436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Dev. = average % deviation from the best known; Profit = instances improved by the local search; LS time = total over all instances.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01000" y="173736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8" name="Card big 8"/>
          <p:cNvSpPr txBox="1"/>
          <p:nvPr/>
        </p:nvSpPr>
        <p:spPr>
          <a:xfrm>
            <a:off x="8183880" y="18105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42 / 42</a:t>
            </a:r>
          </a:p>
        </p:txBody>
      </p:sp>
      <p:sp>
        <p:nvSpPr>
          <p:cNvPr id="9" name="Card label 9"/>
          <p:cNvSpPr txBox="1"/>
          <p:nvPr/>
        </p:nvSpPr>
        <p:spPr>
          <a:xfrm>
            <a:off x="8183880" y="2377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instances profit from the local search, for every one of the eight algorithms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8001000" y="315468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Card big 11"/>
          <p:cNvSpPr txBox="1"/>
          <p:nvPr/>
        </p:nvSpPr>
        <p:spPr>
          <a:xfrm>
            <a:off x="8183880" y="32278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2.63 %</a:t>
            </a:r>
          </a:p>
        </p:txBody>
      </p:sp>
      <p:sp>
        <p:nvSpPr>
          <p:cNvPr id="12" name="Card label 12"/>
          <p:cNvSpPr txBox="1"/>
          <p:nvPr/>
        </p:nvSpPr>
        <p:spPr>
          <a:xfrm>
            <a:off x="8183880" y="37947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lowest average deviation: CH3 + BI</a:t>
            </a:r>
          </a:p>
        </p:txBody>
      </p:sp>
      <p:sp>
        <p:nvSpPr>
          <p:cNvPr id="13" name="Card 13"/>
          <p:cNvSpPr txBox="1"/>
          <p:nvPr/>
        </p:nvSpPr>
        <p:spPr>
          <a:xfrm>
            <a:off x="8001000" y="457200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4" name="Card big 14"/>
          <p:cNvSpPr txBox="1"/>
          <p:nvPr/>
        </p:nvSpPr>
        <p:spPr>
          <a:xfrm>
            <a:off x="8183880" y="46451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E8873A"/>
                </a:solidFill>
                <a:latin typeface="Cambria"/>
                <a:cs typeface="Cambria"/>
              </a:rPr>
              <a:t>1.4 s</a:t>
            </a:r>
          </a:p>
        </p:txBody>
      </p:sp>
      <p:sp>
        <p:nvSpPr>
          <p:cNvPr id="15" name="Card label 15"/>
          <p:cNvSpPr txBox="1"/>
          <p:nvPr/>
        </p:nvSpPr>
        <p:spPr>
          <a:xfrm>
            <a:off x="8183880" y="52120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fastest: CH3 + FI (2.86 % deviation)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First vs. best improvement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Same start, same neighbourhood: BI takes few expensive steps, FI many cheap ones.</a:t>
            </a:r>
          </a:p>
        </p:txBody>
      </p:sp>
      <p:pic>
        <p:nvPicPr>
          <p:cNvPr id="5" name="Convergence" descr="Cost against evaluated neighbours for FI and BI on instance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035040" cy="29337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812280" y="1737360"/>
          <a:ext cx="4800600" cy="2286000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777240"/>
                <a:gridCol w="777240"/>
                <a:gridCol w="777240"/>
                <a:gridCol w="77724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 /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7.6×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2.6×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2.3×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7.3×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7" name="Card 7"/>
          <p:cNvSpPr txBox="1"/>
          <p:nvPr/>
        </p:nvSpPr>
        <p:spPr>
          <a:xfrm>
            <a:off x="54864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Time follows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evaluates the whole neighbourhood every step (65–86 neighbours), FI stops at the first improvement (5–24). An evaluation costs about 0.26 ms either way, so BI is 2.3–7.6× slower.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Quality: no clear winner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is better only from CH3 (2.63 % vs. 2.86 %), and there in 5 of 5 seeds. From the other starts neither rule wins consistently; no FI/BI difference is significant at 5 % (Wilcoxon p &gt; 0.05).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813816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Why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Both rules end in local optima of similar quality, but FI gets there with a fraction of the evaluations: the curves show the same descent, only the effort differs. The steepest first step of BI does not pay 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Computation time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Local-search time per instance (42 instances); the spread over 5 seeds in the last column.</a:t>
            </a:r>
          </a:p>
        </p:txBody>
      </p:sp>
      <p:pic>
        <p:nvPicPr>
          <p:cNvPr id="5" name="Trade-off" descr="Total local-search time against average deviation for the eight algorith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754880" cy="3003082"/>
          </a:xfrm>
          <a:prstGeom prst="rect">
            <a:avLst/>
          </a:prstGeom>
        </p:spPr>
      </p:pic>
      <p:sp>
        <p:nvSpPr>
          <p:cNvPr id="6" name="Legend 6"/>
          <p:cNvSpPr txBox="1"/>
          <p:nvPr/>
        </p:nvSpPr>
        <p:spPr>
          <a:xfrm>
            <a:off x="548640" y="46817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Black edge: not dominated by any other algorithm. Orange = FI, teal = BI.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897880" y="1691640"/>
          <a:ext cx="5715000" cy="3044952"/>
        </p:xfrm>
        <a:graphic>
          <a:graphicData uri="http://schemas.openxmlformats.org/drawingml/2006/table">
            <a:tbl>
              <a:tblPr firstRow="1"/>
              <a:tblGrid>
                <a:gridCol w="1463040"/>
                <a:gridCol w="731520"/>
                <a:gridCol w="777240"/>
                <a:gridCol w="868680"/>
                <a:gridCol w="777240"/>
                <a:gridCol w="1097280"/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Max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σ (5 seeds)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75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563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576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1322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0.32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0.08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98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84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0.05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79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64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0.21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76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71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231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556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562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1343 ms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8" name="Legend 8"/>
          <p:cNvSpPr txBox="1"/>
          <p:nvPr/>
        </p:nvSpPr>
        <p:spPr>
          <a:xfrm>
            <a:off x="5897880" y="4828032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Mean / median / max: per instance. Orange names: the non-dominated algorithms.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54864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Two algorithms matter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CH3 + FI and CH3 + BI are the only non-dominated ones: every other algorithm is both slower and worse than one of them.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Time =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Local-search time is proportional to the number of evaluated neighbours (Spearman ρ ≥ 0.96 for all eight). One evaluation costs 0.18–0.32 ms; the construction is at most 4.8 % of the total time.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813816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Stable, not size-driven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Time varies by at most 7 % across seeds. It is only weakly related to the instance size m·n (ρ = 0.02–0.30): the number of steps decides. The slowest instance lies in set C for 7 of 8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initial solution and what remains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Average deviation before and after the local search.</a:t>
            </a:r>
          </a:p>
        </p:txBody>
      </p:sp>
      <p:pic>
        <p:nvPicPr>
          <p:cNvPr id="5" name="Initial vs final" descr="Deviation of the initial solution and after FI and BI for each st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69280" cy="354330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6492240" y="1691640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6675120" y="1737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13–2297 % → 2.6–4.5 %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6675120" y="21488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The search closes almost the whole gap, but the start still matters: CH3 ends significantly better than CH2 and CH1+RE (p &lt; 0.01).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492240" y="2907792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6675120" y="295351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E8873A"/>
                </a:solidFill>
                <a:latin typeface="Cambria"/>
                <a:cs typeface="Cambria"/>
              </a:rPr>
              <a:t>CH1 ≈ CH1+RE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6675120" y="336499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 after every step cleans the start anyway, so no consistent difference. For CH3, RE alone gives 13.0 → 6.5 %; the moves add the rest.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6492240" y="4123944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6675120" y="416966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2.6–2.9 % left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6675120" y="458114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One drop-and-repair neighbourhood stalls in local optima – the case for metaheuristics.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Recommendation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 + FI is the best quality per time (2.86 %, 1.4 s); CH3 + BI gives the best quality (2.63 %). A good constructive start saves most of the search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Improvement heuristics for the Set Covering Problem</dc:title>
  <dc:creator/>
</cp:coreProperties>
</file>